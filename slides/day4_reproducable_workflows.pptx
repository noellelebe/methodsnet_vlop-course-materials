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305" r:id="rId4"/>
    <p:sldId id="304" r:id="rId5"/>
    <p:sldId id="308" r:id="rId6"/>
    <p:sldId id="306" r:id="rId7"/>
    <p:sldId id="311" r:id="rId8"/>
    <p:sldId id="314" r:id="rId9"/>
    <p:sldId id="307" r:id="rId10"/>
    <p:sldId id="315" r:id="rId11"/>
    <p:sldId id="313" r:id="rId12"/>
    <p:sldId id="291" r:id="rId13"/>
    <p:sldId id="312" r:id="rId14"/>
    <p:sldId id="319" r:id="rId15"/>
    <p:sldId id="294" r:id="rId16"/>
    <p:sldId id="320" r:id="rId17"/>
    <p:sldId id="317" r:id="rId18"/>
    <p:sldId id="316" r:id="rId19"/>
    <p:sldId id="318" r:id="rId20"/>
    <p:sldId id="321" r:id="rId21"/>
    <p:sldId id="325" r:id="rId22"/>
    <p:sldId id="323" r:id="rId23"/>
    <p:sldId id="326" r:id="rId24"/>
    <p:sldId id="329" r:id="rId25"/>
    <p:sldId id="299" r:id="rId26"/>
    <p:sldId id="328" r:id="rId27"/>
    <p:sldId id="300" r:id="rId28"/>
    <p:sldId id="32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0300"/>
    <a:srgbClr val="1D746A"/>
    <a:srgbClr val="0051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6"/>
    <p:restoredTop sz="85554"/>
  </p:normalViewPr>
  <p:slideViewPr>
    <p:cSldViewPr snapToGrid="0">
      <p:cViewPr>
        <p:scale>
          <a:sx n="119" d="100"/>
          <a:sy n="119" d="100"/>
        </p:scale>
        <p:origin x="127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6A4D3-12C5-0B42-BA95-8BCAC7551791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8EFD2-C9A0-A146-8CE9-0A2B7CC7B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18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77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One-off script: runs in the current environment, writes a table, depends on memory to explain what happened.</a:t>
            </a:r>
          </a:p>
          <a:p>
            <a:endParaRPr lang="en-US" dirty="0"/>
          </a:p>
          <a:p>
            <a:r>
              <a:rPr lang="en-US" dirty="0"/>
              <a:t>Reproducible workflow: records inputs, parameters, raw evidence, outputs, logs, checks, code state, and limits.</a:t>
            </a:r>
          </a:p>
          <a:p>
            <a:endParaRPr lang="en-US" dirty="0"/>
          </a:p>
          <a:p>
            <a:r>
              <a:rPr lang="en-US" dirty="0"/>
              <a:t>Today’s shift: not more scraping tricks, better collection operations.</a:t>
            </a:r>
          </a:p>
          <a:p>
            <a:endParaRPr lang="en-US" dirty="0"/>
          </a:p>
          <a:p>
            <a:r>
              <a:rPr lang="en-US" dirty="0"/>
              <a:t>Main question: what must surround a collector before anyone schedules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65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74269-29E1-EF19-4B27-4C6E0002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544E8-8E5D-31E2-2CF8-084EF1ACE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52344-21A0-0B2B-81B6-D3826F1F2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38AAC-9FDA-E56F-8A4C-C5C936098E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743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2F90F-21C5-9F5B-BF9E-3094250C2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7998F-0D43-A54F-AC21-74E86F8BE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672F55-EC1B-62AF-8C22-09B007252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Readability:</a:t>
            </a:r>
            <a:r>
              <a:rPr lang="en-US" dirty="0"/>
              <a:t> one can see the workflow at a glance.</a:t>
            </a:r>
          </a:p>
          <a:p>
            <a:r>
              <a:rPr lang="en-US" b="1" dirty="0"/>
              <a:t>Reusability:</a:t>
            </a:r>
            <a:r>
              <a:rPr lang="en-US" dirty="0"/>
              <a:t> you can call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extract_quotes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on page 1, page 2, page 3, etc.</a:t>
            </a:r>
          </a:p>
          <a:p>
            <a:r>
              <a:rPr lang="en-US" b="1" dirty="0"/>
              <a:t>Testing/checking:</a:t>
            </a:r>
            <a:r>
              <a:rPr lang="en-US" dirty="0"/>
              <a:t> you can test one part without running the whole scraper.</a:t>
            </a:r>
          </a:p>
          <a:p>
            <a:r>
              <a:rPr lang="en-US" b="1" dirty="0"/>
              <a:t>Debugging:</a:t>
            </a:r>
            <a:r>
              <a:rPr lang="en-US" dirty="0"/>
              <a:t> if extraction breaks, you know where to look.</a:t>
            </a:r>
          </a:p>
          <a:p>
            <a:r>
              <a:rPr lang="en-US" b="1" dirty="0"/>
              <a:t>Automation:</a:t>
            </a:r>
            <a:r>
              <a:rPr lang="en-US" dirty="0"/>
              <a:t> the scheduled script can run the same reliable steps every time.</a:t>
            </a:r>
          </a:p>
          <a:p>
            <a:r>
              <a:rPr lang="en-US" b="1" dirty="0"/>
              <a:t>Less copy-paste:</a:t>
            </a:r>
            <a:r>
              <a:rPr lang="en-US" dirty="0"/>
              <a:t> if the extraction logic changes, you update it in one place.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363F6-F1E3-7B75-3BB6-5658522BA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52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44B6C-A0D4-5AFB-4E7C-A26B356DB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A3F601-28B2-6CB4-2CA6-9C2B8782E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96B85-65FD-3F72-53EE-E2B9E6D09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DB873-EA3E-3ABC-7EDF-7AE0A1EE4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5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AC72-51D6-C099-C348-7BF8806FD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686C1-4BCC-A2B9-0C48-0487036E1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7B01C-7ABB-524E-6A09-FF9FEFC2E5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C878A-8847-FCE0-CC75-84EB22B3E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18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A8D38-BAB0-15EC-E5D6-1B65DFA9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5F4AC-67C3-D005-F700-828741B61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B6E63-02B7-0A55-D5FB-AD2DE4F47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5174"/>
                </a:solidFill>
              </a:rPr>
              <a:t>Configuration</a:t>
            </a:r>
          </a:p>
          <a:p>
            <a:r>
              <a:rPr lang="en-US" dirty="0">
                <a:solidFill>
                  <a:srgbClr val="005174"/>
                </a:solidFill>
              </a:rPr>
              <a:t>Write a Manifest/Provenance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5BE0C-A960-3330-A91F-3E914BF77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21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0F386-43F3-579F-B847-97384632F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D3CBE-EFAD-E4C2-01B1-D8C4DB4D0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F0886-6BF0-4BD8-6150-01B3690031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Command: script or notebook command to run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Inputs: endpoint, query, page size, output folder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Access policy: User-Agent, credentials/secrets policy, limits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Expected outputs: raw evidence, processed table, reports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Checks to apply: required columns, minimum rows, missing values</a:t>
            </a:r>
          </a:p>
          <a:p>
            <a:endParaRPr lang="en-US" dirty="0">
              <a:solidFill>
                <a:srgbClr val="005174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2EFE2-70CE-88C8-8F14-8AF45A634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636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4F072-350D-4F83-9955-7D44F145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8563F-CA61-E53A-6CA0-34B55B0B7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17E7B-3087-A81C-9ED4-61B1ECF0B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251F9-9CED-7659-3E38-1964658BB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39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823BF-DAE7-1FD2-64F1-7F436C33D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82047-575E-B994-6F33-D120278D6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F7880-6C85-32C3-AD29-081BCFDFA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5174"/>
                </a:solidFill>
              </a:rPr>
              <a:t>Configuration</a:t>
            </a:r>
          </a:p>
          <a:p>
            <a:r>
              <a:rPr lang="en-US" dirty="0">
                <a:solidFill>
                  <a:srgbClr val="005174"/>
                </a:solidFill>
              </a:rPr>
              <a:t>Write a Manifest/Provenance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99AA4-67BD-CEC6-FF4F-19C72A5BD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883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130E4-DFC2-3AA7-188F-77CAF4927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F57AF-0520-447A-A898-5EF1B99CD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57A348-ECD1-D64A-0D32-F83360F0A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45054-B479-21A5-2F53-EC518B324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4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ACFD-9504-7C48-C452-FC7E2ED1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2666C-9667-B0FB-C6D4-5685EC538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1FAD7-50E4-6638-C859-F2E3D230F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3ED14-2AFB-2F22-75A6-CDA3C59E5C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17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B3539-F56F-8FFC-01F8-730BF456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92DE8-ADAC-6299-AFC3-3165751FE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601081-59AD-F77C-6A4E-BE0539A74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652AD-F098-40EC-95F1-511FFD6F2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50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4589-230F-FFBF-D253-82F7DF16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D7075B-410D-1386-671E-F0F8DDC70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1B0FF7-999C-F3A7-F426-0E163E022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folder means one inspectable execution.</a:t>
            </a:r>
          </a:p>
          <a:p>
            <a:r>
              <a:rPr lang="en-US" dirty="0"/>
              <a:t>Raw and processed files stay separate.</a:t>
            </a:r>
          </a:p>
          <a:p>
            <a:r>
              <a:rPr lang="en-US" dirty="0"/>
              <a:t>Reports explain the run without opening the code.</a:t>
            </a:r>
          </a:p>
          <a:p>
            <a:r>
              <a:rPr lang="en-US" dirty="0"/>
              <a:t>Runs can be compared when something changes.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C0951-187F-37DE-02F4-9C91FFBB3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190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6138A-6385-7FC7-3D25-3601CF937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90C94C-01BC-EBD6-F153-CF59C761F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DBC09-B5AA-ACCC-603A-1B74565C3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folder means one inspectable execution.</a:t>
            </a:r>
          </a:p>
          <a:p>
            <a:r>
              <a:rPr lang="en-US" dirty="0"/>
              <a:t>Raw and processed files stay separate.</a:t>
            </a:r>
          </a:p>
          <a:p>
            <a:r>
              <a:rPr lang="en-US" dirty="0"/>
              <a:t>Reports explain the run without opening the code.</a:t>
            </a:r>
          </a:p>
          <a:p>
            <a:r>
              <a:rPr lang="en-US" dirty="0"/>
              <a:t>Runs can be compared when something changes.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E25C6A-EF59-B7EC-6988-7C7CE0B64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728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31A63-4F03-9FDB-176D-439868D24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A13504-13B8-A7BE-2641-0F00ED944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4BAFB-4D3F-D90A-0AFC-A4D320AC8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folder means one inspectable execution.</a:t>
            </a:r>
          </a:p>
          <a:p>
            <a:r>
              <a:rPr lang="en-US" dirty="0"/>
              <a:t>Raw and processed files stay separate.</a:t>
            </a:r>
          </a:p>
          <a:p>
            <a:r>
              <a:rPr lang="en-US" dirty="0"/>
              <a:t>Reports explain the run without opening the code.</a:t>
            </a:r>
          </a:p>
          <a:p>
            <a:r>
              <a:rPr lang="en-US" dirty="0"/>
              <a:t>Runs can be compared when something changes.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A31CE-38A8-DF32-175B-A8CEF6B740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35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C3309-9093-E46D-7EC8-9DEFF143A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F4082-0750-09A6-059F-F34B40E2F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10236-E5DE-75D7-648F-C398A77B1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folder means one inspectable execution.</a:t>
            </a:r>
          </a:p>
          <a:p>
            <a:r>
              <a:rPr lang="en-US" dirty="0"/>
              <a:t>Raw and processed files stay separate.</a:t>
            </a:r>
          </a:p>
          <a:p>
            <a:r>
              <a:rPr lang="en-US" dirty="0"/>
              <a:t>Reports explain the run without opening the code.</a:t>
            </a:r>
          </a:p>
          <a:p>
            <a:r>
              <a:rPr lang="en-US" dirty="0"/>
              <a:t>Runs can be compared when something changes.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DB266-1E9D-BDFC-1CD9-3248EE086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59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E414E-8036-161C-9965-43878BAD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F0860-337B-6F20-2387-D5F52C8E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A9F88-3DC6-7846-953F-C0C292FCBF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folder means one inspectable execution.</a:t>
            </a:r>
          </a:p>
          <a:p>
            <a:r>
              <a:rPr lang="en-US" dirty="0"/>
              <a:t>Raw and processed files stay separate.</a:t>
            </a:r>
          </a:p>
          <a:p>
            <a:r>
              <a:rPr lang="en-US" dirty="0"/>
              <a:t>Reports explain the run without opening the code.</a:t>
            </a:r>
          </a:p>
          <a:p>
            <a:r>
              <a:rPr lang="en-US" dirty="0"/>
              <a:t>Runs can be compared when something changes.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8602E-6465-5125-AC8E-AAE3DA514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2944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84EEC-262D-7E39-39FB-47B2C6A0F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4D0E7-48B8-4192-6FD1-145124745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43780C-F388-5C74-A5F3-89DF28B73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folder means one inspectable execution.</a:t>
            </a:r>
          </a:p>
          <a:p>
            <a:r>
              <a:rPr lang="en-US" dirty="0"/>
              <a:t>Raw and processed files stay separate.</a:t>
            </a:r>
          </a:p>
          <a:p>
            <a:r>
              <a:rPr lang="en-US" dirty="0"/>
              <a:t>Reports explain the run without opening the code.</a:t>
            </a:r>
          </a:p>
          <a:p>
            <a:r>
              <a:rPr lang="en-US" dirty="0"/>
              <a:t>Runs can be compared when something changes.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B18454-3257-9A8A-9DB2-6816170B8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062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FB92-1D1B-02A9-C16C-C520B2061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6B140B-4E0F-8689-4428-73B69743C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DA7D10-5FB2-F20F-7EDF-F03A37FA7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folder means one inspectable execution.</a:t>
            </a:r>
          </a:p>
          <a:p>
            <a:r>
              <a:rPr lang="en-US" dirty="0"/>
              <a:t>Raw and processed files stay separate.</a:t>
            </a:r>
          </a:p>
          <a:p>
            <a:r>
              <a:rPr lang="en-US" dirty="0"/>
              <a:t>Reports explain the run without opening the code.</a:t>
            </a:r>
          </a:p>
          <a:p>
            <a:r>
              <a:rPr lang="en-US" dirty="0"/>
              <a:t>Runs can be compared when something changes.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2F203-B4D0-BE85-5C7D-7B7815E64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94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CB488-7BC5-40AE-36D4-432CE2FD7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C51B7B-FAD8-9DA3-6889-F2F8FB432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E8AD7-0AD4-E487-1EB8-D96DE3CF4B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folder means one inspectable execution.</a:t>
            </a:r>
          </a:p>
          <a:p>
            <a:r>
              <a:rPr lang="en-US" dirty="0"/>
              <a:t>Raw and processed files stay separate.</a:t>
            </a:r>
          </a:p>
          <a:p>
            <a:r>
              <a:rPr lang="en-US" dirty="0"/>
              <a:t>Reports explain the run without opening the code.</a:t>
            </a:r>
          </a:p>
          <a:p>
            <a:r>
              <a:rPr lang="en-US" dirty="0"/>
              <a:t>Runs can be compared when something changes.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minute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hour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day of the month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month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day of the week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* * * * cd /Users/noelle/Documents/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methodsNET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&amp;&amp; 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python scripts/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runnable_workflows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/01_api_wikipedia.py 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--query "digital services act" 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--pages 1 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--page-size 2 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--extract-chars 300 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--run-label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wiki_every_minute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--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outdir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data/runs 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&gt;&gt; data/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wikipedia_api_cron.log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2&gt;&amp;1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24191B-924B-637D-4B5B-CAB0514023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026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C3CEB-F42F-7A11-742C-52CC7827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180B9-E29A-2983-0EC0-2FCA9927B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61195-7D39-4583-0A8D-6F922A8AF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folder means one inspectable execution.</a:t>
            </a:r>
          </a:p>
          <a:p>
            <a:r>
              <a:rPr lang="en-US" dirty="0"/>
              <a:t>Raw and processed files stay separate.</a:t>
            </a:r>
          </a:p>
          <a:p>
            <a:r>
              <a:rPr lang="en-US" dirty="0"/>
              <a:t>Reports explain the run without opening the code.</a:t>
            </a:r>
          </a:p>
          <a:p>
            <a:r>
              <a:rPr lang="en-US" dirty="0"/>
              <a:t>Runs can be compared when something changes.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minute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hour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day of the month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month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 day of the week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</a:t>
            </a:r>
            <a:r>
              <a:rPr lang="en-US" dirty="0"/>
              <a:t>* * * * cd /Users/noelle/Documents/</a:t>
            </a:r>
            <a:r>
              <a:rPr lang="en-US" dirty="0" err="1"/>
              <a:t>methodsNET</a:t>
            </a:r>
            <a:r>
              <a:rPr lang="en-US" dirty="0"/>
              <a:t> &amp;&amp; python3 scripts/</a:t>
            </a:r>
            <a:r>
              <a:rPr lang="en-US" dirty="0" err="1"/>
              <a:t>runnable_workflows</a:t>
            </a:r>
            <a:r>
              <a:rPr lang="en-US" dirty="0"/>
              <a:t>/01_api_wikipedia.py --query "digital services act" --pages 1 --page-size 2 --extract-chars 300 --run-label </a:t>
            </a:r>
            <a:r>
              <a:rPr lang="en-US" dirty="0" err="1"/>
              <a:t>wiki_every_minute</a:t>
            </a:r>
            <a:r>
              <a:rPr lang="en-US" dirty="0"/>
              <a:t> --</a:t>
            </a:r>
            <a:r>
              <a:rPr lang="en-US" dirty="0" err="1"/>
              <a:t>outdir</a:t>
            </a:r>
            <a:r>
              <a:rPr lang="en-US" dirty="0"/>
              <a:t> data/runs &gt;&gt; data/</a:t>
            </a:r>
            <a:r>
              <a:rPr lang="en-US" dirty="0" err="1"/>
              <a:t>wikipedia_api_cron.log</a:t>
            </a:r>
            <a:r>
              <a:rPr lang="en-US" dirty="0"/>
              <a:t> 2&gt;&amp;1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 * * * cd /Users/noelle/Documents/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methodsNET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&amp;&amp;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/opt/anaconda3/bin/python3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/Users/noelle/Documents/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methodsNET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/scripts/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runnable_workflows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/01_api_wikipedia.py --query "digital services act" --pages 1 --page-size 2 --extract-chars 300 --run-label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wiki_every_minute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--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outdir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data/runs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/Users/noelle/Documents/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methodsNET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/scripts/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runnable_workflows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4BFED-C341-F3F9-650F-0923EAA7E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213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5082C-1C3B-881E-7E95-38B7F5079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F781E-AF01-E97D-05BB-C9BDE84701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BB3164-948A-1B9A-71D1-6883FAE6BC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folder means one inspectable execution.</a:t>
            </a:r>
          </a:p>
          <a:p>
            <a:r>
              <a:rPr lang="en-US" dirty="0"/>
              <a:t>Raw and processed files stay separate.</a:t>
            </a:r>
          </a:p>
          <a:p>
            <a:r>
              <a:rPr lang="en-US" dirty="0"/>
              <a:t>Reports explain the run without opening the code.</a:t>
            </a:r>
          </a:p>
          <a:p>
            <a:r>
              <a:rPr lang="en-US" dirty="0"/>
              <a:t>Runs can be compared when something changes.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988DE-77D6-B259-0C1D-18AEEA259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364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85CA9-4ACF-0C12-F204-E3DDE660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34AAF6-9232-5DA3-CBD9-4AAB485AC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8D338-BE63-F42C-438A-94F078A3A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47A4E-DC9F-3F3D-95B9-153BC90C2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850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592D6-FA9E-3F16-39F8-4F8AEF93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92ED9-E49F-A251-9C12-2801D7820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C4A3A-2A06-0E28-CAB3-6D8FAACF1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58B69-7329-D984-4CC7-0D8F2098D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70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8B3AF-1005-8703-9D91-6553AD17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653FF-5DA9-D9F0-D02D-4ECB81C50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5229A-8796-A4AC-7C95-D0874FDD7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C2AA4-172F-BE90-46CD-1954BC11B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781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6981A-C721-102F-64C2-A6398FC19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9D656-CCDE-245D-2550-77FF4346E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F2CDCF-DA63-A95C-A646-746D1AAECD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83197-D817-FF2C-ED69-A0027DEFB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78EFD2-C9A0-A146-8CE9-0A2B7CC7B86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58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B812-05A1-FCCD-5FF9-6F6B992DB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7A3B8-37BA-00B0-C6D8-B55C0E4C5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05D69-C480-626A-1B26-56C57642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A35D0-A54E-D875-A287-B6BAAA38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353D9-0141-CA22-23B6-67AA38A2D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912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B0226-CDDC-EE76-377B-9E102A1D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C96F0-6F75-2110-EA9C-4344F0B4A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D281F-7570-03DC-D78D-62E2A989B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03A5E-8490-EAF7-6ED5-C08D296CA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A555A-92DB-0D8E-007D-C333D683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71F5D-7F46-3C20-9109-A0E08214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4DE42-ADBC-0BAD-04D8-97B9C78A7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DCEC7-5AD6-F284-50D7-317446439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F62A3-3074-C0E4-4220-3D7448EB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52B6A-5BB9-90C8-523D-39BA93855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33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6FC6-09E2-41C8-BF60-6DEDA81D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455E6-A104-3C9D-A517-E064301161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4E1F5-55F6-6E10-308D-8285171C2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D1F02-6E04-95D6-29C6-7ED7D63F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8BD80-FC1C-CEA1-D521-B8FA89BF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5D74E-7F20-D4DF-C1AD-391D97BFB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6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8AF22-F9F6-1F7C-D424-D66D327B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444F04-258E-DA90-CA05-DBD6DEA7F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6615B-6C6A-25D3-9740-5C1F4E24B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6C08B3-4C3B-D548-F30B-C398FCAE8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6AA77-BC8D-A080-6A63-E78DAF3AE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83C3B1-95A5-B59C-2026-E221DA525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59B96C-17FF-ABC1-9ABA-98035B25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1EF8D1-AA9E-3ADD-93ED-AA0B48CD0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36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92E90-1DEE-03FB-7A25-995493219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B62C06-EEC9-4FD1-39F5-04395DCD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7D5FFA-44BB-1D46-DB1C-32500D882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56DD2-2695-A053-F151-6CE253425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76F8B-6D04-030B-5B5F-BC1A86D3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8CCF48-0EE5-6C81-D4D5-869A0E60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B69DF-423D-05E3-5048-EDF3930FA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90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9A72-7AFD-C09F-55F9-587214B6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598E6-2711-F8C5-119F-3EE29E48D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2151F1-FD8E-D090-EDDB-DABB29584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DCAF0-029A-844D-60F1-3241EA946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C893B-5DFB-F9A9-D64E-D6E990B82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11826-D76A-0C88-BD7A-68D25829A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59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CF43-5BBE-3D38-1477-8F2BA7E36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760E9C-14D5-F425-FA2C-47440E5E2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C3323-E06C-49A1-DC61-144A20DA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1A54C-4EA4-704E-D792-3E241B51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4EA2C-1C62-D7B0-33E3-C089DDD8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9B269-0F7D-C93F-8619-779FB2B06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84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AB405-E739-18D2-203B-CECE26920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B53E5C-7D7B-1E6C-CAC6-6C6988284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B492C-08EA-6174-7B2A-5F7A1BFE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2A59E-7DE6-E681-40A9-45848A42E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4BEC6-0AEE-82BD-FBEA-A10DCDC0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6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0696C-12CF-F9BB-D9B1-639848F657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B5365-1769-1956-8160-A435C7BAC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E437E-EC3D-3BB0-942C-ED51851E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11E94-80A1-2DB5-31BD-40EF0C6FE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3DE9E-94D1-9BB9-4CED-BE03AAA2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3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C6E2EE-D75B-EDBF-989C-BF29CCDDF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AAB1C-A320-DB97-FD3D-76DD9DB37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87DD78-5C8F-5E79-89AB-3B6B450FA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6CB8E-DCBE-814A-907C-3F1002299140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33427-8C11-56FB-8D4E-D7A17A25AA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6E861-5EAA-DD43-1FB4-BBAA0C5C4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625D1-58CC-5C4C-833B-51F6B4044859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A15BB-81A1-2E1A-7BA8-6D310E44AD5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49469" y="5664817"/>
            <a:ext cx="3520661" cy="87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6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oelle.lebernegg@wur.n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0B527-BCB3-D1C1-3B42-55C6B11B9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3263"/>
            <a:ext cx="9144000" cy="1425965"/>
          </a:xfrm>
        </p:spPr>
        <p:txBody>
          <a:bodyPr>
            <a:normAutofit fontScale="90000"/>
          </a:bodyPr>
          <a:lstStyle/>
          <a:p>
            <a:r>
              <a:rPr lang="en-US" sz="5000" dirty="0">
                <a:solidFill>
                  <a:srgbClr val="005174"/>
                </a:solidFill>
              </a:rPr>
              <a:t>Collecting Data from Large Online Platforms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F49B91-8B68-58BC-C50B-E31675488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82938"/>
            <a:ext cx="9144000" cy="1425965"/>
          </a:xfrm>
        </p:spPr>
        <p:txBody>
          <a:bodyPr>
            <a:noAutofit/>
          </a:bodyPr>
          <a:lstStyle/>
          <a:p>
            <a:r>
              <a:rPr lang="en-US" sz="2000" dirty="0" err="1">
                <a:solidFill>
                  <a:srgbClr val="005174"/>
                </a:solidFill>
              </a:rPr>
              <a:t>MethodsNET</a:t>
            </a:r>
            <a:r>
              <a:rPr lang="en-US" sz="2000" dirty="0">
                <a:solidFill>
                  <a:srgbClr val="005174"/>
                </a:solidFill>
              </a:rPr>
              <a:t> Summer School</a:t>
            </a:r>
          </a:p>
          <a:p>
            <a:r>
              <a:rPr lang="en-US" sz="2000" dirty="0">
                <a:solidFill>
                  <a:srgbClr val="005174"/>
                </a:solidFill>
              </a:rPr>
              <a:t>29.06 – 03.01, 09:00 – 15:15</a:t>
            </a:r>
          </a:p>
          <a:p>
            <a:r>
              <a:rPr lang="en-US" sz="2000" b="1" dirty="0">
                <a:solidFill>
                  <a:srgbClr val="005174"/>
                </a:solidFill>
              </a:rPr>
              <a:t>A201</a:t>
            </a:r>
            <a:endParaRPr lang="en-US" sz="2000" b="1" dirty="0">
              <a:solidFill>
                <a:srgbClr val="005174"/>
              </a:solidFill>
              <a:highlight>
                <a:srgbClr val="FFFF00"/>
              </a:highlight>
            </a:endParaRPr>
          </a:p>
          <a:p>
            <a:r>
              <a:rPr lang="en-US" sz="2000" dirty="0">
                <a:solidFill>
                  <a:srgbClr val="005174"/>
                </a:solidFill>
              </a:rPr>
              <a:t>Instructor: </a:t>
            </a:r>
          </a:p>
          <a:p>
            <a:r>
              <a:rPr lang="en-US" sz="2000" dirty="0">
                <a:solidFill>
                  <a:srgbClr val="005174"/>
                </a:solidFill>
              </a:rPr>
              <a:t>Dr. Noëlle Sophie Lebernegg</a:t>
            </a:r>
          </a:p>
          <a:p>
            <a:r>
              <a:rPr lang="en-US" sz="2000" dirty="0">
                <a:solidFill>
                  <a:srgbClr val="005174"/>
                </a:solidFill>
                <a:hlinkClick r:id="rId3"/>
              </a:rPr>
              <a:t>noelle.lebernegg@wur.nl</a:t>
            </a:r>
            <a:endParaRPr lang="en-US" sz="2000" dirty="0">
              <a:solidFill>
                <a:srgbClr val="005174"/>
              </a:solidFill>
            </a:endParaRPr>
          </a:p>
          <a:p>
            <a:endParaRPr lang="en-US" sz="2000" dirty="0">
              <a:solidFill>
                <a:srgbClr val="005174"/>
              </a:solidFill>
              <a:highlight>
                <a:srgbClr val="FFFF00"/>
              </a:highlight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0063FCD-6518-8AE3-C30F-CBEFC5E1D810}"/>
              </a:ext>
            </a:extLst>
          </p:cNvPr>
          <p:cNvSpPr txBox="1">
            <a:spLocks/>
          </p:cNvSpPr>
          <p:nvPr/>
        </p:nvSpPr>
        <p:spPr>
          <a:xfrm>
            <a:off x="1676400" y="2024895"/>
            <a:ext cx="9144000" cy="8119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500" dirty="0">
                <a:solidFill>
                  <a:srgbClr val="005174"/>
                </a:solidFill>
              </a:rPr>
              <a:t>From Notebook to Practical Workflow</a:t>
            </a:r>
          </a:p>
        </p:txBody>
      </p:sp>
    </p:spTree>
    <p:extLst>
      <p:ext uri="{BB962C8B-B14F-4D97-AF65-F5344CB8AC3E}">
        <p14:creationId xmlns:p14="http://schemas.microsoft.com/office/powerpoint/2010/main" val="604927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E33A6-E9E2-5A75-86DD-2970D7128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accent1"/>
                </a:solidFill>
              </a:rPr>
              <a:t>Agenda for today…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11D33-6003-721D-CCD9-E1EAA6C58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Turning </a:t>
            </a:r>
            <a:r>
              <a:rPr lang="en-US" b="1" dirty="0">
                <a:solidFill>
                  <a:schemeClr val="accent1"/>
                </a:solidFill>
              </a:rPr>
              <a:t>one-off collectors </a:t>
            </a:r>
            <a:r>
              <a:rPr lang="en-US" dirty="0">
                <a:solidFill>
                  <a:schemeClr val="accent1"/>
                </a:solidFill>
              </a:rPr>
              <a:t>into workflows that can be rerun, audited, monitored, and explained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solidFill>
                  <a:schemeClr val="accent1"/>
                </a:solidFill>
              </a:rPr>
              <a:t>From Notebook to “automatable” script (.</a:t>
            </a:r>
            <a:r>
              <a:rPr lang="en-US" sz="2800" dirty="0" err="1">
                <a:solidFill>
                  <a:schemeClr val="accent1"/>
                </a:solidFill>
              </a:rPr>
              <a:t>ipynb</a:t>
            </a:r>
            <a:r>
              <a:rPr 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>
                <a:solidFill>
                  <a:schemeClr val="accent1"/>
                </a:solidFill>
                <a:sym typeface="Wingdings" pitchFamily="2" charset="2"/>
              </a:rPr>
              <a:t> .</a:t>
            </a:r>
            <a:r>
              <a:rPr lang="en-US" sz="2800" dirty="0" err="1">
                <a:solidFill>
                  <a:schemeClr val="accent1"/>
                </a:solidFill>
                <a:sym typeface="Wingdings" pitchFamily="2" charset="2"/>
              </a:rPr>
              <a:t>py</a:t>
            </a:r>
            <a:r>
              <a:rPr lang="en-US" sz="2800" dirty="0">
                <a:solidFill>
                  <a:schemeClr val="accent1"/>
                </a:solidFill>
                <a:sym typeface="Wingdings" pitchFamily="2" charset="2"/>
              </a:rPr>
              <a:t>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solidFill>
                  <a:schemeClr val="accent1"/>
                </a:solidFill>
                <a:sym typeface="Wingdings" pitchFamily="2" charset="2"/>
              </a:rPr>
              <a:t>From Script to Workflow</a:t>
            </a:r>
          </a:p>
          <a:p>
            <a:pPr lvl="2"/>
            <a:r>
              <a:rPr lang="en-US" sz="2800" dirty="0">
                <a:solidFill>
                  <a:schemeClr val="accent1"/>
                </a:solidFill>
                <a:sym typeface="Wingdings" pitchFamily="2" charset="2"/>
              </a:rPr>
              <a:t>Reproducibility</a:t>
            </a:r>
          </a:p>
          <a:p>
            <a:pPr lvl="2"/>
            <a:r>
              <a:rPr lang="en-US" sz="2800" dirty="0">
                <a:solidFill>
                  <a:schemeClr val="accent1"/>
                </a:solidFill>
                <a:sym typeface="Wingdings" pitchFamily="2" charset="2"/>
              </a:rPr>
              <a:t>Practicality</a:t>
            </a:r>
            <a:endParaRPr lang="en-US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34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30BEB-1746-134A-3D65-B6FB1AC5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0E976-6399-AA27-BEFA-7EA26AFC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accent1"/>
                </a:solidFill>
              </a:rPr>
              <a:t>From Notebook to “automatable” script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8DBC93-78BE-DB25-2CCA-836738531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1.   Notebook vs. Runnable Script (i.e., .</a:t>
            </a:r>
            <a:r>
              <a:rPr lang="en-US" b="1" dirty="0" err="1">
                <a:solidFill>
                  <a:schemeClr val="accent1"/>
                </a:solidFill>
              </a:rPr>
              <a:t>ipynb</a:t>
            </a:r>
            <a:r>
              <a:rPr lang="en-US" b="1" dirty="0">
                <a:solidFill>
                  <a:schemeClr val="accent1"/>
                </a:solidFill>
              </a:rPr>
              <a:t> vs. .</a:t>
            </a:r>
            <a:r>
              <a:rPr lang="en-US" b="1" dirty="0" err="1">
                <a:solidFill>
                  <a:schemeClr val="accent1"/>
                </a:solidFill>
              </a:rPr>
              <a:t>py</a:t>
            </a:r>
            <a:r>
              <a:rPr lang="en-US" b="1" dirty="0">
                <a:solidFill>
                  <a:schemeClr val="accent1"/>
                </a:solidFill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r>
              <a:rPr lang="en-US" b="1" dirty="0">
                <a:solidFill>
                  <a:schemeClr val="accent1"/>
                </a:solidFill>
              </a:rPr>
              <a:t>Notebooks</a:t>
            </a:r>
            <a:r>
              <a:rPr lang="en-US" dirty="0">
                <a:solidFill>
                  <a:schemeClr val="accent1"/>
                </a:solidFill>
              </a:rPr>
              <a:t> are good for </a:t>
            </a:r>
            <a:r>
              <a:rPr lang="en-US" b="1" dirty="0">
                <a:solidFill>
                  <a:schemeClr val="accent1"/>
                </a:solidFill>
              </a:rPr>
              <a:t>explanation</a:t>
            </a:r>
            <a:r>
              <a:rPr lang="en-US" dirty="0">
                <a:solidFill>
                  <a:schemeClr val="accent1"/>
                </a:solidFill>
              </a:rPr>
              <a:t> and classroom inspection.</a:t>
            </a:r>
          </a:p>
          <a:p>
            <a:r>
              <a:rPr lang="en-US" b="1" dirty="0">
                <a:solidFill>
                  <a:schemeClr val="accent1"/>
                </a:solidFill>
              </a:rPr>
              <a:t>Scripts</a:t>
            </a:r>
            <a:r>
              <a:rPr lang="en-US" dirty="0">
                <a:solidFill>
                  <a:schemeClr val="accent1"/>
                </a:solidFill>
              </a:rPr>
              <a:t> are better for </a:t>
            </a:r>
            <a:r>
              <a:rPr lang="en-US" b="1" dirty="0">
                <a:solidFill>
                  <a:schemeClr val="accent1"/>
                </a:solidFill>
              </a:rPr>
              <a:t>repeatable collection </a:t>
            </a:r>
            <a:r>
              <a:rPr lang="en-US" dirty="0">
                <a:solidFill>
                  <a:schemeClr val="accent1"/>
                </a:solidFill>
              </a:rPr>
              <a:t>work.</a:t>
            </a:r>
          </a:p>
          <a:p>
            <a:r>
              <a:rPr lang="en-US" b="1" dirty="0">
                <a:solidFill>
                  <a:schemeClr val="accent1"/>
                </a:solidFill>
              </a:rPr>
              <a:t>Scheduled and command-line processes </a:t>
            </a:r>
            <a:r>
              <a:rPr lang="en-US" dirty="0">
                <a:solidFill>
                  <a:schemeClr val="accent1"/>
                </a:solidFill>
              </a:rPr>
              <a:t>should call (.</a:t>
            </a:r>
            <a:r>
              <a:rPr lang="en-US" dirty="0" err="1">
                <a:solidFill>
                  <a:schemeClr val="accent1"/>
                </a:solidFill>
              </a:rPr>
              <a:t>py</a:t>
            </a:r>
            <a:r>
              <a:rPr lang="en-US" dirty="0">
                <a:solidFill>
                  <a:schemeClr val="accent1"/>
                </a:solidFill>
              </a:rPr>
              <a:t>) </a:t>
            </a:r>
            <a:r>
              <a:rPr lang="en-US" b="1" dirty="0">
                <a:solidFill>
                  <a:schemeClr val="accent1"/>
                </a:solidFill>
              </a:rPr>
              <a:t>scripts</a:t>
            </a:r>
            <a:r>
              <a:rPr lang="en-US" dirty="0">
                <a:solidFill>
                  <a:schemeClr val="accent1"/>
                </a:solidFill>
              </a:rPr>
              <a:t>, not notebooks.</a:t>
            </a:r>
          </a:p>
        </p:txBody>
      </p:sp>
    </p:spTree>
    <p:extLst>
      <p:ext uri="{BB962C8B-B14F-4D97-AF65-F5344CB8AC3E}">
        <p14:creationId xmlns:p14="http://schemas.microsoft.com/office/powerpoint/2010/main" val="3730768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D7E15-3960-C522-56B3-DCBD3DA9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D26A-74FD-DB26-F65F-806F4D8A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accent1"/>
                </a:solidFill>
              </a:rPr>
              <a:t>From Notebook to “automatable” script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30E7B7-3085-95E3-D120-F811856A7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2.   From Manual Script To Automatable Script</a:t>
            </a:r>
            <a:endParaRPr lang="en-US" dirty="0">
              <a:solidFill>
                <a:schemeClr val="accent1"/>
              </a:solidFill>
            </a:endParaRPr>
          </a:p>
          <a:p>
            <a:endParaRPr lang="en-US" dirty="0">
              <a:solidFill>
                <a:schemeClr val="accent1"/>
              </a:solidFill>
            </a:endParaRPr>
          </a:p>
          <a:p>
            <a:r>
              <a:rPr lang="en-US" dirty="0">
                <a:solidFill>
                  <a:schemeClr val="accent1"/>
                </a:solidFill>
              </a:rPr>
              <a:t>runs top-to-bottom without manual edits</a:t>
            </a:r>
          </a:p>
          <a:p>
            <a:r>
              <a:rPr lang="en-US" dirty="0">
                <a:solidFill>
                  <a:schemeClr val="accent1"/>
                </a:solidFill>
              </a:rPr>
              <a:t>ideally, functions instead of loose copied blocks</a:t>
            </a:r>
          </a:p>
          <a:p>
            <a:r>
              <a:rPr lang="en-US" dirty="0">
                <a:solidFill>
                  <a:schemeClr val="accent1"/>
                </a:solidFill>
              </a:rPr>
              <a:t>accepts settings as arguments</a:t>
            </a:r>
          </a:p>
          <a:p>
            <a:r>
              <a:rPr lang="en-US" dirty="0">
                <a:solidFill>
                  <a:schemeClr val="accent1"/>
                </a:solidFill>
              </a:rPr>
              <a:t>gives clear errors when something breaks</a:t>
            </a:r>
          </a:p>
        </p:txBody>
      </p:sp>
    </p:spTree>
    <p:extLst>
      <p:ext uri="{BB962C8B-B14F-4D97-AF65-F5344CB8AC3E}">
        <p14:creationId xmlns:p14="http://schemas.microsoft.com/office/powerpoint/2010/main" val="2502661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C742F-7164-DC06-7951-B764CCE79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BBF7C-F244-AAF3-0F97-438F1A0CD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accent1"/>
                </a:solidFill>
              </a:rPr>
              <a:t>From Notebook to “automatable” script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59FDE2-9222-99A8-65A3-EAEDDBFFC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514350" indent="-514350">
              <a:buAutoNum type="arabicPeriod" startAt="2"/>
            </a:pPr>
            <a:r>
              <a:rPr lang="en-US" b="1" dirty="0">
                <a:solidFill>
                  <a:schemeClr val="accent1"/>
                </a:solidFill>
              </a:rPr>
              <a:t>From Manual Script To Automatable Script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5ACBFBE5-94BE-1CA2-2E93-490A4160F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382" y="2319192"/>
            <a:ext cx="62738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67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0188D-2961-C352-9F69-ECD790586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59A80-DAD6-B832-960E-B7954E84D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accent1"/>
                </a:solidFill>
              </a:rPr>
              <a:t>From Notebook to “automatable” script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1E4BF2-2693-DD6B-2C3B-DC64197A5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514350" indent="-514350">
              <a:buAutoNum type="arabicPeriod" startAt="2"/>
            </a:pPr>
            <a:r>
              <a:rPr lang="en-US" b="1" dirty="0">
                <a:solidFill>
                  <a:schemeClr val="accent1"/>
                </a:solidFill>
              </a:rPr>
              <a:t>From Manual Script To Automatable Script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98A072-FFCE-01B1-737F-AEA07B175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17" y="2981423"/>
            <a:ext cx="5493589" cy="17493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E8A3D2-1D5C-1F2C-DFB8-9075BE999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890" y="2940221"/>
            <a:ext cx="4814944" cy="179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59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717FC-5B7D-DC94-B8E1-D7AEDC23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C008-AB0D-A582-06CF-B485F006E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accent1"/>
                </a:solidFill>
              </a:rPr>
              <a:t>From Script to Workflow: </a:t>
            </a:r>
            <a:r>
              <a:rPr lang="en-US" sz="3500" b="1" dirty="0">
                <a:solidFill>
                  <a:schemeClr val="accent1"/>
                </a:solidFill>
              </a:rPr>
              <a:t>Reproducibility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60EA7-1D9D-4E77-8255-7F9F018D5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5174"/>
                </a:solidFill>
              </a:rPr>
              <a:t>Command:</a:t>
            </a:r>
            <a:r>
              <a:rPr lang="en-US" dirty="0">
                <a:solidFill>
                  <a:srgbClr val="005174"/>
                </a:solidFill>
              </a:rPr>
              <a:t> command-line arguments</a:t>
            </a:r>
          </a:p>
          <a:p>
            <a:r>
              <a:rPr lang="en-US" b="1" dirty="0">
                <a:solidFill>
                  <a:srgbClr val="005174"/>
                </a:solidFill>
              </a:rPr>
              <a:t>Inputs: </a:t>
            </a:r>
            <a:r>
              <a:rPr lang="en-US" dirty="0">
                <a:solidFill>
                  <a:srgbClr val="005174"/>
                </a:solidFill>
              </a:rPr>
              <a:t>e.g., URLs, queries, config, credentials policy</a:t>
            </a:r>
          </a:p>
          <a:p>
            <a:r>
              <a:rPr lang="en-US" b="1" dirty="0">
                <a:solidFill>
                  <a:srgbClr val="005174"/>
                </a:solidFill>
              </a:rPr>
              <a:t>Code: </a:t>
            </a:r>
            <a:r>
              <a:rPr lang="en-US" dirty="0">
                <a:solidFill>
                  <a:srgbClr val="005174"/>
                </a:solidFill>
              </a:rPr>
              <a:t>script path, Git commit, Git status</a:t>
            </a:r>
          </a:p>
          <a:p>
            <a:r>
              <a:rPr lang="en-US" b="1" dirty="0">
                <a:solidFill>
                  <a:srgbClr val="005174"/>
                </a:solidFill>
              </a:rPr>
              <a:t>Environment:</a:t>
            </a:r>
            <a:r>
              <a:rPr lang="en-US" dirty="0">
                <a:solidFill>
                  <a:srgbClr val="005174"/>
                </a:solidFill>
              </a:rPr>
              <a:t> Python and package versions</a:t>
            </a:r>
          </a:p>
          <a:p>
            <a:r>
              <a:rPr lang="en-US" b="1" dirty="0">
                <a:solidFill>
                  <a:srgbClr val="005174"/>
                </a:solidFill>
              </a:rPr>
              <a:t>Evidence:</a:t>
            </a:r>
            <a:r>
              <a:rPr lang="en-US" dirty="0">
                <a:solidFill>
                  <a:srgbClr val="005174"/>
                </a:solidFill>
              </a:rPr>
              <a:t> raw HTML, JSON, screenshots, logs</a:t>
            </a:r>
          </a:p>
          <a:p>
            <a:r>
              <a:rPr lang="en-US" b="1" dirty="0">
                <a:solidFill>
                  <a:srgbClr val="005174"/>
                </a:solidFill>
              </a:rPr>
              <a:t>Outputs:</a:t>
            </a:r>
            <a:r>
              <a:rPr lang="en-US" dirty="0">
                <a:solidFill>
                  <a:srgbClr val="005174"/>
                </a:solidFill>
              </a:rPr>
              <a:t> processed tables and reports</a:t>
            </a:r>
          </a:p>
          <a:p>
            <a:r>
              <a:rPr lang="en-US" b="1" dirty="0">
                <a:solidFill>
                  <a:srgbClr val="005174"/>
                </a:solidFill>
              </a:rPr>
              <a:t>Limits:</a:t>
            </a:r>
            <a:r>
              <a:rPr lang="en-US" dirty="0">
                <a:solidFill>
                  <a:srgbClr val="005174"/>
                </a:solidFill>
              </a:rPr>
              <a:t> failures, exclusions</a:t>
            </a:r>
          </a:p>
        </p:txBody>
      </p:sp>
    </p:spTree>
    <p:extLst>
      <p:ext uri="{BB962C8B-B14F-4D97-AF65-F5344CB8AC3E}">
        <p14:creationId xmlns:p14="http://schemas.microsoft.com/office/powerpoint/2010/main" val="124640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BBB76-D539-4FAF-4D34-71F750CE5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D6807-DD59-77D2-F550-0F956657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accent1"/>
                </a:solidFill>
              </a:rPr>
              <a:t>From Script to Workflow: </a:t>
            </a:r>
            <a:r>
              <a:rPr lang="en-US" sz="3500" b="1" dirty="0">
                <a:solidFill>
                  <a:schemeClr val="accent1"/>
                </a:solidFill>
              </a:rPr>
              <a:t>Reproducibility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91E03-986A-EEB1-DE9D-989D0D9D2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5174"/>
                </a:solidFill>
              </a:rPr>
              <a:t>Configuration: Plan before the run</a:t>
            </a:r>
          </a:p>
          <a:p>
            <a:r>
              <a:rPr lang="en-US" b="1" dirty="0">
                <a:solidFill>
                  <a:srgbClr val="005174"/>
                </a:solidFill>
              </a:rPr>
              <a:t>Inputs: </a:t>
            </a:r>
            <a:r>
              <a:rPr lang="en-US" dirty="0">
                <a:solidFill>
                  <a:srgbClr val="005174"/>
                </a:solidFill>
              </a:rPr>
              <a:t>e.g., URLs, queries, config, credentials policy</a:t>
            </a:r>
          </a:p>
          <a:p>
            <a:r>
              <a:rPr lang="en-US" b="1" dirty="0">
                <a:solidFill>
                  <a:srgbClr val="005174"/>
                </a:solidFill>
              </a:rPr>
              <a:t>Access: </a:t>
            </a:r>
            <a:r>
              <a:rPr lang="en-US" dirty="0">
                <a:solidFill>
                  <a:srgbClr val="005174"/>
                </a:solidFill>
              </a:rPr>
              <a:t>User-Agent, credentials/secrets, limits</a:t>
            </a:r>
          </a:p>
          <a:p>
            <a:r>
              <a:rPr lang="en-US" b="1" dirty="0">
                <a:solidFill>
                  <a:srgbClr val="005174"/>
                </a:solidFill>
              </a:rPr>
              <a:t>Code: </a:t>
            </a:r>
            <a:r>
              <a:rPr lang="en-US" dirty="0">
                <a:solidFill>
                  <a:srgbClr val="005174"/>
                </a:solidFill>
              </a:rPr>
              <a:t>script path, Git commit, Git status</a:t>
            </a:r>
          </a:p>
          <a:p>
            <a:r>
              <a:rPr lang="en-US" b="1" dirty="0">
                <a:solidFill>
                  <a:srgbClr val="005174"/>
                </a:solidFill>
              </a:rPr>
              <a:t>…</a:t>
            </a:r>
            <a:endParaRPr lang="en-US" dirty="0">
              <a:solidFill>
                <a:srgbClr val="0051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016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B6404-724F-2A31-52AF-BFED5BD2A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95B18-8F7A-4A5C-DC57-1A397CA8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accent1"/>
                </a:solidFill>
              </a:rPr>
              <a:t>From Script to Workflow: </a:t>
            </a:r>
            <a:r>
              <a:rPr lang="en-US" sz="3500" b="1" dirty="0">
                <a:solidFill>
                  <a:schemeClr val="accent1"/>
                </a:solidFill>
              </a:rPr>
              <a:t>Reproducibility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7C3AE-0876-105B-6B74-6B9004A9B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5174"/>
                </a:solidFill>
              </a:rPr>
              <a:t>Configuration</a:t>
            </a:r>
            <a:r>
              <a:rPr lang="en-US" dirty="0">
                <a:solidFill>
                  <a:srgbClr val="005174"/>
                </a:solidFill>
              </a:rPr>
              <a:t>:</a:t>
            </a:r>
          </a:p>
          <a:p>
            <a:pPr marL="0" indent="0">
              <a:buNone/>
            </a:pPr>
            <a:endParaRPr lang="en-US" dirty="0">
              <a:solidFill>
                <a:srgbClr val="00517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C46A32-618D-E11D-5C0A-5FCE707D1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3778" y="1825625"/>
            <a:ext cx="76581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214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B726C-9587-C267-37C4-F752163E0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376AD-3B54-45E8-6CB9-A2C04E4A5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accent1"/>
                </a:solidFill>
              </a:rPr>
              <a:t>From Script to Workflow: </a:t>
            </a:r>
            <a:r>
              <a:rPr lang="en-US" sz="3500" b="1" dirty="0">
                <a:solidFill>
                  <a:schemeClr val="accent1"/>
                </a:solidFill>
              </a:rPr>
              <a:t>Reproducibility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AC7FA-041A-BCBA-B2AC-7AD2F4FD8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2532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5174"/>
                </a:solidFill>
              </a:rPr>
              <a:t>Manifest/Provenance: Record after the run</a:t>
            </a:r>
          </a:p>
          <a:p>
            <a:r>
              <a:rPr lang="en-US" b="1" dirty="0">
                <a:solidFill>
                  <a:srgbClr val="005174"/>
                </a:solidFill>
              </a:rPr>
              <a:t>Parameters</a:t>
            </a:r>
            <a:r>
              <a:rPr lang="en-US" dirty="0">
                <a:solidFill>
                  <a:srgbClr val="005174"/>
                </a:solidFill>
              </a:rPr>
              <a:t>: config file, query, page size, number of pages, command arguments.</a:t>
            </a:r>
          </a:p>
          <a:p>
            <a:r>
              <a:rPr lang="en-US" b="1" dirty="0">
                <a:solidFill>
                  <a:srgbClr val="005174"/>
                </a:solidFill>
              </a:rPr>
              <a:t>Evidence:</a:t>
            </a:r>
            <a:r>
              <a:rPr lang="en-US" dirty="0">
                <a:solidFill>
                  <a:srgbClr val="005174"/>
                </a:solidFill>
              </a:rPr>
              <a:t> raw HTML, JSON, screenshots, logs</a:t>
            </a:r>
          </a:p>
          <a:p>
            <a:r>
              <a:rPr lang="en-US" b="1" dirty="0">
                <a:solidFill>
                  <a:srgbClr val="005174"/>
                </a:solidFill>
              </a:rPr>
              <a:t>Outputs</a:t>
            </a:r>
            <a:r>
              <a:rPr lang="en-US" dirty="0">
                <a:solidFill>
                  <a:srgbClr val="005174"/>
                </a:solidFill>
              </a:rPr>
              <a:t>: raw files, processed tables, reports, file sizes, checksums.</a:t>
            </a:r>
          </a:p>
          <a:p>
            <a:r>
              <a:rPr lang="en-US" b="1" dirty="0">
                <a:solidFill>
                  <a:srgbClr val="005174"/>
                </a:solidFill>
              </a:rPr>
              <a:t>Notes</a:t>
            </a:r>
            <a:r>
              <a:rPr lang="en-US" dirty="0">
                <a:solidFill>
                  <a:srgbClr val="005174"/>
                </a:solidFill>
              </a:rPr>
              <a:t>: limitations, assumptions, warnings, failures, exclusions</a:t>
            </a:r>
          </a:p>
          <a:p>
            <a:pPr marL="0" indent="0">
              <a:buNone/>
            </a:pPr>
            <a:r>
              <a:rPr lang="en-US" dirty="0">
                <a:solidFill>
                  <a:srgbClr val="005174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80850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F3160-666A-37A9-2D47-2E177C114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942C-100A-87A3-C955-8D59F193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accent1"/>
                </a:solidFill>
              </a:rPr>
              <a:t>From Script to Workflow: </a:t>
            </a:r>
            <a:r>
              <a:rPr lang="en-US" sz="3500" b="1" dirty="0">
                <a:solidFill>
                  <a:schemeClr val="accent1"/>
                </a:solidFill>
              </a:rPr>
              <a:t>Reproducibility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76DE0-5AC9-93F0-EB61-B652C674B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5174"/>
                </a:solidFill>
              </a:rPr>
              <a:t>Manifest/Provenance:</a:t>
            </a:r>
          </a:p>
          <a:p>
            <a:pPr marL="0" indent="0">
              <a:buNone/>
            </a:pPr>
            <a:endParaRPr lang="en-US" dirty="0">
              <a:solidFill>
                <a:srgbClr val="005174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E34352-EAE0-9329-D267-2C0D8E95B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551" y="1825625"/>
            <a:ext cx="5801043" cy="416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45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C8FC-BE6A-5DF0-08D0-64AA729A5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9A75B-B016-7EE2-8A6E-3478CCD6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dirty="0">
                <a:solidFill>
                  <a:schemeClr val="accent1"/>
                </a:solidFill>
              </a:rPr>
              <a:t>From Script to Workflow: </a:t>
            </a:r>
            <a:r>
              <a:rPr lang="en-US" sz="3500" b="1" dirty="0">
                <a:solidFill>
                  <a:schemeClr val="accent1"/>
                </a:solidFill>
              </a:rPr>
              <a:t>Practical Collection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0BBF95-0A49-602D-1096-C48482765BE2}"/>
              </a:ext>
            </a:extLst>
          </p:cNvPr>
          <p:cNvSpPr txBox="1"/>
          <p:nvPr/>
        </p:nvSpPr>
        <p:spPr>
          <a:xfrm>
            <a:off x="1809750" y="23812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887DF96-BBC3-E2A5-61C8-CA2A028FA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990"/>
            <a:ext cx="10515600" cy="4351338"/>
          </a:xfrm>
        </p:spPr>
        <p:txBody>
          <a:bodyPr>
            <a:normAutofit/>
          </a:bodyPr>
          <a:lstStyle/>
          <a:p>
            <a:r>
              <a:rPr lang="en-US" sz="2600" b="1" dirty="0">
                <a:solidFill>
                  <a:schemeClr val="accent1"/>
                </a:solidFill>
              </a:rPr>
              <a:t>Run folders</a:t>
            </a:r>
            <a:r>
              <a:rPr lang="en-US" sz="2600" dirty="0">
                <a:solidFill>
                  <a:schemeClr val="accent1"/>
                </a:solidFill>
              </a:rPr>
              <a:t>: one folder per execution </a:t>
            </a:r>
          </a:p>
          <a:p>
            <a:r>
              <a:rPr lang="en-US" sz="2600" b="1" dirty="0">
                <a:solidFill>
                  <a:schemeClr val="accent1"/>
                </a:solidFill>
              </a:rPr>
              <a:t>Logging</a:t>
            </a:r>
            <a:r>
              <a:rPr lang="en-US" sz="2600" dirty="0">
                <a:solidFill>
                  <a:schemeClr val="accent1"/>
                </a:solidFill>
              </a:rPr>
              <a:t>: what happened during a run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Versioning</a:t>
            </a:r>
            <a:r>
              <a:rPr lang="en-US" sz="2400" dirty="0">
                <a:solidFill>
                  <a:schemeClr val="accent1"/>
                </a:solidFill>
              </a:rPr>
              <a:t>: which code, Python version, and package versions produced the output</a:t>
            </a:r>
            <a:endParaRPr lang="en-US" sz="2600" dirty="0">
              <a:solidFill>
                <a:schemeClr val="accent1"/>
              </a:solidFill>
            </a:endParaRPr>
          </a:p>
          <a:p>
            <a:r>
              <a:rPr lang="en-US" sz="2600" b="1" dirty="0">
                <a:solidFill>
                  <a:schemeClr val="accent1"/>
                </a:solidFill>
              </a:rPr>
              <a:t>Monitoring</a:t>
            </a:r>
            <a:r>
              <a:rPr lang="en-US" sz="2600" dirty="0">
                <a:solidFill>
                  <a:schemeClr val="accent1"/>
                </a:solidFill>
              </a:rPr>
              <a:t>: whether the run produced plausible output</a:t>
            </a:r>
          </a:p>
          <a:p>
            <a:r>
              <a:rPr lang="en-US" sz="2600" b="1" dirty="0">
                <a:solidFill>
                  <a:schemeClr val="accent1"/>
                </a:solidFill>
              </a:rPr>
              <a:t>Scheduling</a:t>
            </a:r>
            <a:r>
              <a:rPr lang="en-US" sz="2600" dirty="0">
                <a:solidFill>
                  <a:schemeClr val="accent1"/>
                </a:solidFill>
              </a:rPr>
              <a:t>: when and how the collector should run</a:t>
            </a:r>
          </a:p>
          <a:p>
            <a:endParaRPr lang="en-US" sz="2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519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C67C7-3823-6DED-E5CC-A46762F9C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8A599-4561-8985-5973-2D6F19CD7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Run Folders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9E0C9C-8F83-C5E1-69A7-D9AECF8B2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690688"/>
            <a:ext cx="7086600" cy="408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584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6326B-4718-E66E-8929-46655904E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139BF-065C-D7D9-A3EF-A4262ED7E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Logging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F69885-853C-0647-C20F-E0F38548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Logging means keeping notes of what happened during the run</a:t>
            </a:r>
          </a:p>
          <a:p>
            <a:r>
              <a:rPr lang="en-US" dirty="0">
                <a:solidFill>
                  <a:schemeClr val="accent1"/>
                </a:solidFill>
              </a:rPr>
              <a:t>when the run started and ended</a:t>
            </a:r>
          </a:p>
          <a:p>
            <a:r>
              <a:rPr lang="en-US" dirty="0">
                <a:solidFill>
                  <a:schemeClr val="accent1"/>
                </a:solidFill>
              </a:rPr>
              <a:t>which collector/config was used</a:t>
            </a:r>
          </a:p>
          <a:p>
            <a:r>
              <a:rPr lang="en-US" dirty="0">
                <a:solidFill>
                  <a:schemeClr val="accent1"/>
                </a:solidFill>
              </a:rPr>
              <a:t>where raw and processed outputs were written</a:t>
            </a:r>
          </a:p>
          <a:p>
            <a:r>
              <a:rPr lang="en-US" dirty="0">
                <a:solidFill>
                  <a:schemeClr val="accent1"/>
                </a:solidFill>
              </a:rPr>
              <a:t>how many records were collected</a:t>
            </a:r>
          </a:p>
          <a:p>
            <a:r>
              <a:rPr lang="en-US" dirty="0">
                <a:solidFill>
                  <a:schemeClr val="accent1"/>
                </a:solidFill>
              </a:rPr>
              <a:t>warnings about empty results, failed requests, missing fields, or selector changes</a:t>
            </a:r>
          </a:p>
          <a:p>
            <a:r>
              <a:rPr lang="en-US" dirty="0">
                <a:solidFill>
                  <a:schemeClr val="accent1"/>
                </a:solidFill>
              </a:rPr>
              <a:t>errors that need inspection.</a:t>
            </a:r>
          </a:p>
        </p:txBody>
      </p:sp>
    </p:spTree>
    <p:extLst>
      <p:ext uri="{BB962C8B-B14F-4D97-AF65-F5344CB8AC3E}">
        <p14:creationId xmlns:p14="http://schemas.microsoft.com/office/powerpoint/2010/main" val="495444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BA7A5-1D92-CBE1-3526-25378639F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C53B-A991-DF3C-718A-BF6091940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Logging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8E2858-6002-6AA5-BC7A-61092A2CE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7231" y="213954"/>
            <a:ext cx="7772400" cy="643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548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791FD-90B0-D9FE-2CBD-75B2E599F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702F-2BCA-9E35-4F8E-8966AC9D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Logging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85FC1E-324B-C8C9-E537-61954AF5A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Logging means keeping notes of what happened during the run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70B3EF-60C8-C081-7F74-A7A6CADC1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539532"/>
            <a:ext cx="7772400" cy="177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83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FA36D-3F3A-6A5A-C48C-8FBBF4C7A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EA808-A6E2-E58D-8DD9-CC1BB2EAB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Monitoring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C6923B2-CECA-F6A8-EEFA-B3997CC7C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Did the collector produce output that looks operationally plausible?</a:t>
            </a:r>
          </a:p>
          <a:p>
            <a:r>
              <a:rPr lang="en-US" dirty="0">
                <a:solidFill>
                  <a:schemeClr val="accent1"/>
                </a:solidFill>
              </a:rPr>
              <a:t>Did we get zero rows?</a:t>
            </a:r>
          </a:p>
          <a:p>
            <a:r>
              <a:rPr lang="en-US" dirty="0">
                <a:solidFill>
                  <a:schemeClr val="accent1"/>
                </a:solidFill>
              </a:rPr>
              <a:t>Are required columns missing/empty?</a:t>
            </a:r>
          </a:p>
          <a:p>
            <a:r>
              <a:rPr lang="en-US" dirty="0">
                <a:solidFill>
                  <a:schemeClr val="accent1"/>
                </a:solidFill>
              </a:rPr>
              <a:t>Did we get many 403, 404, or 429 status codes?</a:t>
            </a:r>
          </a:p>
          <a:p>
            <a:r>
              <a:rPr lang="en-US" dirty="0">
                <a:solidFill>
                  <a:schemeClr val="accent1"/>
                </a:solidFill>
              </a:rPr>
              <a:t>Did a selector stop matching?</a:t>
            </a:r>
          </a:p>
          <a:p>
            <a:r>
              <a:rPr lang="en-US" dirty="0">
                <a:solidFill>
                  <a:schemeClr val="accent1"/>
                </a:solidFill>
              </a:rPr>
              <a:t>Did the output file actually get written?</a:t>
            </a:r>
          </a:p>
        </p:txBody>
      </p:sp>
    </p:spTree>
    <p:extLst>
      <p:ext uri="{BB962C8B-B14F-4D97-AF65-F5344CB8AC3E}">
        <p14:creationId xmlns:p14="http://schemas.microsoft.com/office/powerpoint/2010/main" val="191391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EBB0C-D68A-BA0F-B795-FADD36820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0AF6A-6279-2A21-6125-831FBE59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Versioning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4AA781-CC0F-3F4F-5DF6-6A2172C61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Versioning records the computational context</a:t>
            </a:r>
          </a:p>
          <a:p>
            <a:r>
              <a:rPr lang="en-US" dirty="0">
                <a:solidFill>
                  <a:schemeClr val="accent1"/>
                </a:solidFill>
              </a:rPr>
              <a:t>script name</a:t>
            </a:r>
          </a:p>
          <a:p>
            <a:r>
              <a:rPr lang="en-US" dirty="0">
                <a:solidFill>
                  <a:schemeClr val="accent1"/>
                </a:solidFill>
              </a:rPr>
              <a:t>Python version</a:t>
            </a:r>
          </a:p>
          <a:p>
            <a:r>
              <a:rPr lang="en-US" dirty="0">
                <a:solidFill>
                  <a:schemeClr val="accent1"/>
                </a:solidFill>
              </a:rPr>
              <a:t>package versions</a:t>
            </a:r>
          </a:p>
          <a:p>
            <a:r>
              <a:rPr lang="en-US" dirty="0">
                <a:solidFill>
                  <a:schemeClr val="accent1"/>
                </a:solidFill>
              </a:rPr>
              <a:t>command-line arguments</a:t>
            </a:r>
          </a:p>
          <a:p>
            <a:r>
              <a:rPr lang="en-US" dirty="0">
                <a:solidFill>
                  <a:schemeClr val="accent1"/>
                </a:solidFill>
              </a:rPr>
              <a:t>Git commit/git status</a:t>
            </a:r>
          </a:p>
        </p:txBody>
      </p:sp>
    </p:spTree>
    <p:extLst>
      <p:ext uri="{BB962C8B-B14F-4D97-AF65-F5344CB8AC3E}">
        <p14:creationId xmlns:p14="http://schemas.microsoft.com/office/powerpoint/2010/main" val="2640220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9C495-F140-37B7-EE5B-9D7CB4D6E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C45EE-1CCD-BCB0-EFBA-675CEB7A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Scheduling via Cron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EB7DD6-B31F-3BEB-FED9-4B4B90D33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Scheduling means running a collector automatically at a defined time. </a:t>
            </a:r>
          </a:p>
          <a:p>
            <a:r>
              <a:rPr lang="en-US" dirty="0">
                <a:solidFill>
                  <a:schemeClr val="accent1"/>
                </a:solidFill>
              </a:rPr>
              <a:t>Cron is a scheduler on Linux/macOS</a:t>
            </a:r>
          </a:p>
          <a:p>
            <a:r>
              <a:rPr lang="en-US" dirty="0">
                <a:solidFill>
                  <a:schemeClr val="accent1"/>
                </a:solidFill>
              </a:rPr>
              <a:t>Edit scheduled commands via command-line (Terminal):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E2316-FAE9-683E-5D32-136D5C994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7152" y="3896194"/>
            <a:ext cx="27813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003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C4D19-A3E8-DB78-DE25-1BA8260D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7E7A6-DB7F-D3C6-D7DD-960F6FD83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Scheduling via Cron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FAC79E-81C5-DEDF-3754-5A9CB28F0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1. Edit scheduled commands via command-line (Terminal):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188932-7545-7006-E599-DFAF224B3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950" y="2314816"/>
            <a:ext cx="2781300" cy="8509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A0B1C5F-D7DD-E117-C438-45818297A80C}"/>
              </a:ext>
            </a:extLst>
          </p:cNvPr>
          <p:cNvSpPr txBox="1">
            <a:spLocks/>
          </p:cNvSpPr>
          <p:nvPr/>
        </p:nvSpPr>
        <p:spPr>
          <a:xfrm>
            <a:off x="838200" y="352781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accent1"/>
                </a:solidFill>
              </a:rPr>
              <a:t>2. Cron Syntax: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FE97B6-7429-F193-2A7D-A27E4C9EA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950" y="3889103"/>
            <a:ext cx="6084570" cy="93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928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6B7CC7-E151-B38C-7C81-1EF6DC0CF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812" y="1242807"/>
            <a:ext cx="3822700" cy="990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D9372A-5A24-9584-6EE8-56538720EB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812" y="2689673"/>
            <a:ext cx="3911600" cy="1079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A2CD41-13FC-D98C-5A8B-F645F39A5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916" y="4311725"/>
            <a:ext cx="3937000" cy="106680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A839E03-1455-9124-3E27-FA520E7C4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857" y="1212271"/>
            <a:ext cx="5490882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run at minute 0, hour 9, every day-of-month, every month, on weekday 1 = Monday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solidFill>
                <a:schemeClr val="accent1"/>
              </a:solidFill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run every day at 07:30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solidFill>
                <a:schemeClr val="accent1"/>
              </a:solidFill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solidFill>
                <a:schemeClr val="accent1"/>
              </a:solidFill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run every 5 minutes.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186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9EC24-CA7F-A1AB-97C6-1169DE86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4362-B6E3-8F88-C4C7-56252B09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Scheduling via Cron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C8A764A-A829-F091-A15B-FB93949DC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r>
              <a:rPr lang="en-US" sz="2200" dirty="0">
                <a:solidFill>
                  <a:schemeClr val="accent1"/>
                </a:solidFill>
              </a:rPr>
              <a:t>0 9 * * 1      run every Monday at 09:00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cd </a:t>
            </a:r>
            <a:r>
              <a:rPr lang="en-US" sz="2200" dirty="0" err="1">
                <a:solidFill>
                  <a:schemeClr val="accent1"/>
                </a:solidFill>
              </a:rPr>
              <a:t>methodsNET</a:t>
            </a:r>
            <a:r>
              <a:rPr lang="en-US" sz="2200" dirty="0">
                <a:solidFill>
                  <a:schemeClr val="accent1"/>
                </a:solidFill>
              </a:rPr>
              <a:t>  move into the project folder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python ...     run the workflow script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&gt;&gt; logs/...    append output to a log file</a:t>
            </a:r>
          </a:p>
          <a:p>
            <a:r>
              <a:rPr lang="en-US" sz="2200" dirty="0">
                <a:solidFill>
                  <a:schemeClr val="accent1"/>
                </a:solidFill>
              </a:rPr>
              <a:t>2&gt;&amp;1           send errors to the same log file</a:t>
            </a:r>
          </a:p>
          <a:p>
            <a:pPr marL="0" indent="0">
              <a:buNone/>
            </a:pP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8655A5-37AD-64A6-E048-4688AC9E9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054012"/>
            <a:ext cx="7772400" cy="72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61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734E3-722D-0D9E-E452-FC66008C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C5FDD-CE0D-E653-58C6-34324AF2B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Scheduling via Cron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67A6E4-490E-ADA4-57CE-176AE57EC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>
            <a:noAutofit/>
          </a:bodyPr>
          <a:lstStyle/>
          <a:p>
            <a:r>
              <a:rPr lang="en-US" sz="1500" dirty="0">
                <a:solidFill>
                  <a:schemeClr val="accent1"/>
                </a:solidFill>
              </a:rPr>
              <a:t>* * * * *              run once every minute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cd </a:t>
            </a:r>
            <a:r>
              <a:rPr lang="en-US" sz="1500" dirty="0" err="1">
                <a:solidFill>
                  <a:schemeClr val="accent1"/>
                </a:solidFill>
              </a:rPr>
              <a:t>methodsNET</a:t>
            </a:r>
            <a:r>
              <a:rPr lang="en-US" sz="1500" dirty="0">
                <a:solidFill>
                  <a:schemeClr val="accent1"/>
                </a:solidFill>
              </a:rPr>
              <a:t>          move into the project folder first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python ...             run the Wikipedia API workflow script</a:t>
            </a:r>
          </a:p>
          <a:p>
            <a:r>
              <a:rPr lang="en-US" sz="1500" dirty="0">
                <a:solidFill>
                  <a:srgbClr val="740300"/>
                </a:solidFill>
              </a:rPr>
              <a:t>--query                search term sent to the API</a:t>
            </a:r>
          </a:p>
          <a:p>
            <a:r>
              <a:rPr lang="en-US" sz="1500" dirty="0">
                <a:solidFill>
                  <a:srgbClr val="740300"/>
                </a:solidFill>
              </a:rPr>
              <a:t>--pages                number of search-result batches</a:t>
            </a:r>
          </a:p>
          <a:p>
            <a:r>
              <a:rPr lang="en-US" sz="1500" dirty="0">
                <a:solidFill>
                  <a:srgbClr val="740300"/>
                </a:solidFill>
              </a:rPr>
              <a:t>--page-size            number of search results per batch</a:t>
            </a:r>
          </a:p>
          <a:p>
            <a:r>
              <a:rPr lang="en-US" sz="1500" dirty="0">
                <a:solidFill>
                  <a:srgbClr val="740300"/>
                </a:solidFill>
              </a:rPr>
              <a:t>--extract-chars        article text length to request</a:t>
            </a:r>
          </a:p>
          <a:p>
            <a:r>
              <a:rPr lang="en-US" sz="1500" dirty="0">
                <a:solidFill>
                  <a:srgbClr val="740300"/>
                </a:solidFill>
              </a:rPr>
              <a:t>--run-label            readable label in the run-folder name</a:t>
            </a:r>
          </a:p>
          <a:p>
            <a:r>
              <a:rPr lang="en-US" sz="1500" dirty="0">
                <a:solidFill>
                  <a:srgbClr val="740300"/>
                </a:solidFill>
              </a:rPr>
              <a:t>--</a:t>
            </a:r>
            <a:r>
              <a:rPr lang="en-US" sz="1500" dirty="0" err="1">
                <a:solidFill>
                  <a:srgbClr val="740300"/>
                </a:solidFill>
              </a:rPr>
              <a:t>outdir</a:t>
            </a:r>
            <a:r>
              <a:rPr lang="en-US" sz="1500" dirty="0">
                <a:solidFill>
                  <a:srgbClr val="740300"/>
                </a:solidFill>
              </a:rPr>
              <a:t>               where timestamped run folders are written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&gt;&gt; ...                 append terminal output to a </a:t>
            </a:r>
            <a:r>
              <a:rPr lang="en-US" sz="1500" dirty="0" err="1">
                <a:solidFill>
                  <a:schemeClr val="accent1"/>
                </a:solidFill>
              </a:rPr>
              <a:t>cron</a:t>
            </a:r>
            <a:r>
              <a:rPr lang="en-US" sz="1500" dirty="0">
                <a:solidFill>
                  <a:schemeClr val="accent1"/>
                </a:solidFill>
              </a:rPr>
              <a:t> log</a:t>
            </a:r>
          </a:p>
          <a:p>
            <a:r>
              <a:rPr lang="en-US" sz="1500" dirty="0">
                <a:solidFill>
                  <a:schemeClr val="accent1"/>
                </a:solidFill>
              </a:rPr>
              <a:t>2&gt;&amp;1                   send errors to the same log file</a:t>
            </a:r>
          </a:p>
          <a:p>
            <a:pPr marL="0" indent="0">
              <a:buNone/>
            </a:pPr>
            <a:endParaRPr lang="en-US" sz="15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1500" dirty="0">
              <a:solidFill>
                <a:schemeClr val="accent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4AC662-5897-2B72-2CC2-C70B475F6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355" y="610894"/>
            <a:ext cx="6128422" cy="221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91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39C71-E682-EC40-5FFD-C2816B5D6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904E-CDC6-FBF2-0855-E304C9A6D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Scheduling via Cron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C367ECC-B2EF-2CA0-CAD2-D01CCDE81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Edit scheduled commands via command-line (Terminal):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crontab –e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add cronjob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close crontab and save cronjob with ESC </a:t>
            </a:r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 :</a:t>
            </a:r>
            <a:r>
              <a:rPr lang="en-US" dirty="0" err="1">
                <a:solidFill>
                  <a:schemeClr val="accent1"/>
                </a:solidFill>
                <a:sym typeface="Wingdings" pitchFamily="2" charset="2"/>
              </a:rPr>
              <a:t>wq</a:t>
            </a:r>
            <a:endParaRPr lang="en-US" dirty="0">
              <a:solidFill>
                <a:schemeClr val="accent1"/>
              </a:solidFill>
            </a:endParaRPr>
          </a:p>
          <a:p>
            <a:pPr marL="45720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			</a:t>
            </a:r>
          </a:p>
        </p:txBody>
      </p:sp>
    </p:spTree>
    <p:extLst>
      <p:ext uri="{BB962C8B-B14F-4D97-AF65-F5344CB8AC3E}">
        <p14:creationId xmlns:p14="http://schemas.microsoft.com/office/powerpoint/2010/main" val="1270010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9CE78-3A65-D3FB-69CA-B88EBC5D3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32DDE-A9D4-D9DE-D61A-5E3625D2F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Reproduceable Workflows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93EB2B-E9E9-F466-3630-F6EDA7E1C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day_04_reproducible_project.py</a:t>
            </a:r>
          </a:p>
          <a:p>
            <a:r>
              <a:rPr lang="en-US" dirty="0">
                <a:solidFill>
                  <a:schemeClr val="accent1"/>
                </a:solidFill>
              </a:rPr>
              <a:t>01_api_Wikipedia_simple.py</a:t>
            </a:r>
          </a:p>
        </p:txBody>
      </p:sp>
    </p:spTree>
    <p:extLst>
      <p:ext uri="{BB962C8B-B14F-4D97-AF65-F5344CB8AC3E}">
        <p14:creationId xmlns:p14="http://schemas.microsoft.com/office/powerpoint/2010/main" val="1288507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9ECC5-1347-C54D-E55B-5691E887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83134-D5E8-7395-FCA0-52B7BC10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Exercise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908560-39B5-003B-FA41-7F5F62824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300" dirty="0">
                <a:solidFill>
                  <a:schemeClr val="accent1"/>
                </a:solidFill>
              </a:rPr>
              <a:t>Create a .</a:t>
            </a:r>
            <a:r>
              <a:rPr lang="en-US" sz="2300" dirty="0" err="1">
                <a:solidFill>
                  <a:schemeClr val="accent1"/>
                </a:solidFill>
              </a:rPr>
              <a:t>py</a:t>
            </a:r>
            <a:r>
              <a:rPr lang="en-US" sz="2300" dirty="0">
                <a:solidFill>
                  <a:schemeClr val="accent1"/>
                </a:solidFill>
              </a:rPr>
              <a:t> file with any kind of workflow, </a:t>
            </a:r>
          </a:p>
          <a:p>
            <a:pPr lvl="1"/>
            <a:r>
              <a:rPr lang="en-US" sz="2300" dirty="0">
                <a:solidFill>
                  <a:schemeClr val="accent1"/>
                </a:solidFill>
              </a:rPr>
              <a:t>can be some random function or a runnable workflow as shown in any *</a:t>
            </a:r>
            <a:r>
              <a:rPr lang="en-US" sz="2300" dirty="0" err="1">
                <a:solidFill>
                  <a:schemeClr val="accent1"/>
                </a:solidFill>
              </a:rPr>
              <a:t>simple.py</a:t>
            </a:r>
            <a:r>
              <a:rPr lang="en-US" sz="2300" dirty="0">
                <a:solidFill>
                  <a:schemeClr val="accent1"/>
                </a:solidFill>
              </a:rPr>
              <a:t> runnable file on </a:t>
            </a:r>
            <a:r>
              <a:rPr lang="en-US" sz="2300" dirty="0" err="1">
                <a:solidFill>
                  <a:schemeClr val="accent1"/>
                </a:solidFill>
              </a:rPr>
              <a:t>github</a:t>
            </a:r>
            <a:endParaRPr lang="en-US" sz="2300" dirty="0">
              <a:solidFill>
                <a:schemeClr val="accent1"/>
              </a:solidFill>
            </a:endParaRPr>
          </a:p>
          <a:p>
            <a:r>
              <a:rPr lang="en-US" sz="2300" dirty="0">
                <a:solidFill>
                  <a:schemeClr val="accent1"/>
                </a:solidFill>
              </a:rPr>
              <a:t>Make it ”automatable”</a:t>
            </a:r>
          </a:p>
          <a:p>
            <a:r>
              <a:rPr lang="en-US" sz="2300" dirty="0">
                <a:solidFill>
                  <a:schemeClr val="accent1"/>
                </a:solidFill>
              </a:rPr>
              <a:t>Include monitoring checks and logging</a:t>
            </a:r>
          </a:p>
          <a:p>
            <a:r>
              <a:rPr lang="en-US" sz="2300" dirty="0">
                <a:solidFill>
                  <a:schemeClr val="accent1"/>
                </a:solidFill>
              </a:rPr>
              <a:t>Create a versioning file</a:t>
            </a:r>
          </a:p>
          <a:p>
            <a:r>
              <a:rPr lang="en-US" sz="2300" dirty="0">
                <a:solidFill>
                  <a:schemeClr val="accent1"/>
                </a:solidFill>
              </a:rPr>
              <a:t>Create a manifest/provenance and/or configuration file</a:t>
            </a:r>
          </a:p>
          <a:p>
            <a:r>
              <a:rPr lang="en-US" sz="2300" dirty="0">
                <a:solidFill>
                  <a:schemeClr val="accent1"/>
                </a:solidFill>
              </a:rPr>
              <a:t>Set up a cronjob</a:t>
            </a:r>
          </a:p>
          <a:p>
            <a:r>
              <a:rPr lang="en-US" sz="2300" dirty="0">
                <a:solidFill>
                  <a:schemeClr val="accent1"/>
                </a:solidFill>
              </a:rPr>
              <a:t>Let it run </a:t>
            </a:r>
          </a:p>
          <a:p>
            <a:pPr lvl="1"/>
            <a:endParaRPr lang="en-US" sz="23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78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76863-F38F-34B3-3F2A-C86F68594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1A65-89C5-0414-7F89-7743A0720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Practical Collection Workflow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92D31FE-EF43-B573-612C-0C1E0BB66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05174"/>
                </a:solidFill>
              </a:rPr>
              <a:t>09_practical_collection_workflow.py</a:t>
            </a:r>
          </a:p>
          <a:p>
            <a:r>
              <a:rPr lang="en-US" dirty="0">
                <a:solidFill>
                  <a:schemeClr val="accent1"/>
                </a:solidFill>
              </a:rPr>
              <a:t>create a run folder</a:t>
            </a:r>
          </a:p>
          <a:p>
            <a:r>
              <a:rPr lang="en-US" dirty="0">
                <a:solidFill>
                  <a:schemeClr val="accent1"/>
                </a:solidFill>
              </a:rPr>
              <a:t>save config snapshot</a:t>
            </a:r>
          </a:p>
          <a:p>
            <a:r>
              <a:rPr lang="en-US" dirty="0">
                <a:solidFill>
                  <a:schemeClr val="accent1"/>
                </a:solidFill>
              </a:rPr>
              <a:t>write logs</a:t>
            </a:r>
          </a:p>
          <a:p>
            <a:r>
              <a:rPr lang="en-US" dirty="0">
                <a:solidFill>
                  <a:schemeClr val="accent1"/>
                </a:solidFill>
              </a:rPr>
              <a:t>run monitoring checks</a:t>
            </a:r>
          </a:p>
          <a:p>
            <a:r>
              <a:rPr lang="en-US" dirty="0">
                <a:solidFill>
                  <a:schemeClr val="accent1"/>
                </a:solidFill>
              </a:rPr>
              <a:t>record version info</a:t>
            </a:r>
          </a:p>
          <a:p>
            <a:r>
              <a:rPr lang="en-US" dirty="0">
                <a:solidFill>
                  <a:schemeClr val="accent1"/>
                </a:solidFill>
              </a:rPr>
              <a:t>write scheduling examples</a:t>
            </a:r>
          </a:p>
          <a:p>
            <a:r>
              <a:rPr lang="en-US" dirty="0">
                <a:solidFill>
                  <a:schemeClr val="accent1"/>
                </a:solidFill>
              </a:rPr>
              <a:t>write manifest</a:t>
            </a:r>
          </a:p>
        </p:txBody>
      </p:sp>
    </p:spTree>
    <p:extLst>
      <p:ext uri="{BB962C8B-B14F-4D97-AF65-F5344CB8AC3E}">
        <p14:creationId xmlns:p14="http://schemas.microsoft.com/office/powerpoint/2010/main" val="1055078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68ED-6EC0-6461-551B-B8BC8405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C6163-70F8-8339-279C-FA9ED9B8D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dirty="0">
                <a:solidFill>
                  <a:schemeClr val="accent1"/>
                </a:solidFill>
              </a:rPr>
              <a:t>Practical Collection Workflow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E721E4-3D72-F340-2FB4-741CDDC85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05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05174"/>
                </a:solidFill>
              </a:rPr>
              <a:t>09_practical_collection_workflow.py</a:t>
            </a:r>
          </a:p>
          <a:p>
            <a:r>
              <a:rPr lang="en-US" dirty="0">
                <a:solidFill>
                  <a:schemeClr val="accent1"/>
                </a:solidFill>
              </a:rPr>
              <a:t>create a run folder</a:t>
            </a:r>
          </a:p>
          <a:p>
            <a:r>
              <a:rPr lang="en-US" dirty="0">
                <a:solidFill>
                  <a:schemeClr val="accent1"/>
                </a:solidFill>
              </a:rPr>
              <a:t>save config snapshot</a:t>
            </a:r>
          </a:p>
          <a:p>
            <a:r>
              <a:rPr lang="en-US" dirty="0">
                <a:solidFill>
                  <a:schemeClr val="accent1"/>
                </a:solidFill>
              </a:rPr>
              <a:t>write logs</a:t>
            </a:r>
          </a:p>
          <a:p>
            <a:r>
              <a:rPr lang="en-US" dirty="0">
                <a:solidFill>
                  <a:schemeClr val="accent1"/>
                </a:solidFill>
              </a:rPr>
              <a:t>run monitoring checks</a:t>
            </a:r>
          </a:p>
          <a:p>
            <a:r>
              <a:rPr lang="en-US" dirty="0">
                <a:solidFill>
                  <a:schemeClr val="accent1"/>
                </a:solidFill>
              </a:rPr>
              <a:t>record version info</a:t>
            </a:r>
          </a:p>
          <a:p>
            <a:r>
              <a:rPr lang="en-US" dirty="0">
                <a:solidFill>
                  <a:schemeClr val="accent1"/>
                </a:solidFill>
              </a:rPr>
              <a:t>write scheduling examples</a:t>
            </a:r>
          </a:p>
          <a:p>
            <a:r>
              <a:rPr lang="en-US" dirty="0">
                <a:solidFill>
                  <a:schemeClr val="accent1"/>
                </a:solidFill>
              </a:rPr>
              <a:t>write manifest</a:t>
            </a:r>
          </a:p>
        </p:txBody>
      </p:sp>
    </p:spTree>
    <p:extLst>
      <p:ext uri="{BB962C8B-B14F-4D97-AF65-F5344CB8AC3E}">
        <p14:creationId xmlns:p14="http://schemas.microsoft.com/office/powerpoint/2010/main" val="472353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7772</TotalTime>
  <Words>1810</Words>
  <Application>Microsoft Macintosh PowerPoint</Application>
  <PresentationFormat>Widescreen</PresentationFormat>
  <Paragraphs>280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Wingdings</vt:lpstr>
      <vt:lpstr>Office Theme</vt:lpstr>
      <vt:lpstr>Collecting Data from Large Online Platforms</vt:lpstr>
      <vt:lpstr>Agenda for today…</vt:lpstr>
      <vt:lpstr>From Notebook to “automatable” script</vt:lpstr>
      <vt:lpstr>From Notebook to “automatable” script</vt:lpstr>
      <vt:lpstr>From Notebook to “automatable” script</vt:lpstr>
      <vt:lpstr>From Notebook to “automatable” script</vt:lpstr>
      <vt:lpstr>From Script to Workflow: Reproducibility</vt:lpstr>
      <vt:lpstr>From Script to Workflow: Reproducibility</vt:lpstr>
      <vt:lpstr>From Script to Workflow: Reproducibility</vt:lpstr>
      <vt:lpstr>From Script to Workflow: Reproducibility</vt:lpstr>
      <vt:lpstr>From Script to Workflow: Reproducibility</vt:lpstr>
      <vt:lpstr>From Script to Workflow: Practical Collection Workflow</vt:lpstr>
      <vt:lpstr>Run Folders</vt:lpstr>
      <vt:lpstr>Logging</vt:lpstr>
      <vt:lpstr>Logging</vt:lpstr>
      <vt:lpstr>Logging</vt:lpstr>
      <vt:lpstr>Monitoring</vt:lpstr>
      <vt:lpstr>Versioning</vt:lpstr>
      <vt:lpstr>Scheduling via Cron</vt:lpstr>
      <vt:lpstr>Scheduling via Cron</vt:lpstr>
      <vt:lpstr>PowerPoint Presentation</vt:lpstr>
      <vt:lpstr>Scheduling via Cron</vt:lpstr>
      <vt:lpstr>Scheduling via Cron</vt:lpstr>
      <vt:lpstr>Scheduling via Cron</vt:lpstr>
      <vt:lpstr>Reproduceable Workflows</vt:lpstr>
      <vt:lpstr>Exercise</vt:lpstr>
      <vt:lpstr>Practical Collection Workflow</vt:lpstr>
      <vt:lpstr>Practical Collection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Noelle Lebernegg</dc:creator>
  <cp:lastModifiedBy>Noelle Lebernegg</cp:lastModifiedBy>
  <cp:revision>39</cp:revision>
  <dcterms:created xsi:type="dcterms:W3CDTF">2026-03-26T08:23:57Z</dcterms:created>
  <dcterms:modified xsi:type="dcterms:W3CDTF">2026-07-02T09:56:07Z</dcterms:modified>
</cp:coreProperties>
</file>