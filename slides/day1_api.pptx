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8" r:id="rId4"/>
    <p:sldId id="279" r:id="rId5"/>
    <p:sldId id="262" r:id="rId6"/>
    <p:sldId id="281" r:id="rId7"/>
    <p:sldId id="282" r:id="rId8"/>
    <p:sldId id="283" r:id="rId9"/>
    <p:sldId id="263" r:id="rId10"/>
    <p:sldId id="267" r:id="rId11"/>
    <p:sldId id="268" r:id="rId12"/>
    <p:sldId id="271" r:id="rId13"/>
    <p:sldId id="266" r:id="rId14"/>
    <p:sldId id="275" r:id="rId15"/>
    <p:sldId id="276" r:id="rId16"/>
    <p:sldId id="270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746A"/>
    <a:srgbClr val="740300"/>
    <a:srgbClr val="0051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25"/>
    <p:restoredTop sz="87671"/>
  </p:normalViewPr>
  <p:slideViewPr>
    <p:cSldViewPr snapToGrid="0">
      <p:cViewPr varScale="1">
        <p:scale>
          <a:sx n="111" d="100"/>
          <a:sy n="111" d="100"/>
        </p:scale>
        <p:origin x="11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56A4D3-12C5-0B42-BA95-8BCAC7551791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8EFD2-C9A0-A146-8CE9-0A2B7CC7B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188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77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2652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C7844-1F54-6B17-BD85-AEFB2F8C4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131CC6-0373-6CFD-EDEC-697757F6A5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03FAEB-C114-F0DE-F882-C4B9879650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research, APIs can help us collect structured data from platforms, databases, or services.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62715C-307F-44B9-7AAB-1A31649FFD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40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2ED16-FBE9-20D7-BB46-76C1843FD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ECAF1-1509-7F11-DDFE-83E267EE6C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1390C-F971-DAE8-8544-B46F6020D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Images taken from: https://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www.geeksforgeeks.org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/software-testing/what-is-an-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</a:p>
          <a:p>
            <a:pPr rtl="0" fontAlgn="base"/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Imagine you’re at a restaurant:</a:t>
            </a:r>
          </a:p>
          <a:p>
            <a:pPr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(the client) place an order with the waiter.</a:t>
            </a:r>
          </a:p>
          <a:p>
            <a:pPr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waiter (the API) conveys your request to the chef (the server).</a:t>
            </a:r>
          </a:p>
          <a:p>
            <a:pPr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chef prepares the food (processes the request) and gives it to the waiter.</a:t>
            </a:r>
          </a:p>
          <a:p>
            <a:pPr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waiter delivers it back to your table (response).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C6DFD-53E9-3741-10AE-DFFB7B8966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870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9B45F-1925-C993-4D16-2EDD49557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9CA2D9-9456-F7EC-8DC1-C8F665EFD7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EACDC-32C1-C9B0-6E22-4ECA6772D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6A8F6-FBFE-C7A4-1FE6-3C975A358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4155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6AB12-E4BE-2895-5942-8EB3594FC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17AFE7-48E9-FF99-5E65-E91DF6095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E2B31-C66D-6B10-48B6-024035544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06F75-A8C9-FA91-51FD-42BB66D705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293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7B160-CF40-30DF-3805-D711B6F3F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33B70B-C718-B12F-6141-D8F3E3C758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53A4A1-8AE4-3697-E30C-E4D0E71099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8A5CF-9EF2-75C8-A777-8AF09942DB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8485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45E58-EAFC-4001-C634-06D355DD9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55C5DF-FAE5-3482-4FFA-7E19DACBA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4D7009-97C0-FACA-0667-78D95D53D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Changing parameters changes the dataset.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search term</a:t>
            </a:r>
          </a:p>
          <a:p>
            <a:r>
              <a:rPr lang="en-US" dirty="0"/>
              <a:t>result limit</a:t>
            </a:r>
          </a:p>
          <a:p>
            <a:r>
              <a:rPr lang="en-US" dirty="0"/>
              <a:t>language</a:t>
            </a:r>
          </a:p>
          <a:p>
            <a:r>
              <a:rPr lang="en-US" dirty="0"/>
              <a:t>date range</a:t>
            </a:r>
          </a:p>
          <a:p>
            <a:r>
              <a:rPr lang="en-US" dirty="0"/>
              <a:t>sorting</a:t>
            </a:r>
          </a:p>
          <a:p>
            <a:r>
              <a:rPr lang="en-US" dirty="0"/>
              <a:t>filters</a:t>
            </a:r>
          </a:p>
          <a:p>
            <a:r>
              <a:rPr lang="en-US" dirty="0"/>
              <a:t>content type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DDB25-6B81-556A-5D1B-4105EA36C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277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17F4C-1F57-E8EA-F0B6-5E6798EC0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B1B22-6DDB-8062-348B-D85E4027C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41BA4-F35F-55F3-4934-062244CAB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MORE about headers?!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Identify your script honestly (user-agent)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rPr>
              <a:t>Use a timeout.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rPr>
              <a:t>Respect rate limits.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rPr>
              <a:t>Read the documentation.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9F88D-32BE-AFBE-F366-28C4F406B7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5882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04327-A870-C295-68C9-BAEA24599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CAE941-FE78-CC86-D759-704D34AEF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110E83-F346-95B8-EC1D-535A5F500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breaks in code!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0AC09-4275-8EDB-5689-A9BCCC88D6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998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33A7E-492E-E1D5-2951-4F2F1A8B9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B40111-E33A-FAE7-38A8-48738B248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ABC72B-5322-9D8D-56FC-C252E3A99F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82017-0445-F383-D281-79CCB76E07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922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E45C3-B33A-EA12-47F7-BBDFFFE6F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7C9FA0-E267-D0DD-170C-DAE1E6CEC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C5F1A5-1BDC-A375-21AD-A234629406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F4358-3C76-1F8B-7D8A-BA8D40F556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7876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78409-9939-2BA5-9C67-CB4904D95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2D1807-A640-46E3-B474-539038E5A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754D9-9DCC-58D4-8757-CF66CA2CA3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Changing parameters changes the dataset.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search term</a:t>
            </a:r>
          </a:p>
          <a:p>
            <a:r>
              <a:rPr lang="en-US" dirty="0"/>
              <a:t>result limit</a:t>
            </a:r>
          </a:p>
          <a:p>
            <a:r>
              <a:rPr lang="en-US" dirty="0"/>
              <a:t>language</a:t>
            </a:r>
          </a:p>
          <a:p>
            <a:r>
              <a:rPr lang="en-US" dirty="0"/>
              <a:t>date range</a:t>
            </a:r>
          </a:p>
          <a:p>
            <a:r>
              <a:rPr lang="en-US" dirty="0"/>
              <a:t>sorting</a:t>
            </a:r>
          </a:p>
          <a:p>
            <a:r>
              <a:rPr lang="en-US" dirty="0"/>
              <a:t>filters</a:t>
            </a:r>
          </a:p>
          <a:p>
            <a:r>
              <a:rPr lang="en-US" dirty="0"/>
              <a:t>content type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CFD9A-BC82-1574-F338-A78B318B53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0201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B5130-3913-81FF-971A-77411B8D5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F5B79E-A297-4C5E-F620-5D96A76DCA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90BBAC-C8F2-50E9-F1C4-89C406187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931D0-B51B-28D5-E82A-3E446A790B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2326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7E190-C0D6-1B64-4040-3E04C4CA0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8FA24B-7EA5-ED1D-2CC8-0B6E32F858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1FB9C3-01F5-96D3-E1CD-2F3A302DD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ADE60-74D2-6944-FE22-EACEB20CA2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9967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57737-F3A2-B8C4-64A8-7D4EEF4C0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61875C-468E-108B-FE15-4894BD3AB7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7914D8-E475-5BE6-3F74-9EF18010E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6821D-4FD8-91E4-B1E0-E0EBF25B9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594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BB812-05A1-FCCD-5FF9-6F6B992DB9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7A3B8-37BA-00B0-C6D8-B55C0E4C5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05D69-C480-626A-1B26-56C57642A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A35D0-A54E-D875-A287-B6BAAA38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353D9-0141-CA22-23B6-67AA38A2D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912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B0226-CDDC-EE76-377B-9E102A1DE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C96F0-6F75-2110-EA9C-4344F0B4A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D281F-7570-03DC-D78D-62E2A989B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03A5E-8490-EAF7-6ED5-C08D296CA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A555A-92DB-0D8E-007D-C333D683D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35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71F5D-7F46-3C20-9109-A0E082149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4DE42-ADBC-0BAD-04D8-97B9C78A7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DCEC7-5AD6-F284-50D7-317446439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F62A3-3074-C0E4-4220-3D7448EB3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52B6A-5BB9-90C8-523D-39BA93855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3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E6FC6-09E2-41C8-BF60-6DEDA81D7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455E6-A104-3C9D-A517-E064301161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34E1F5-55F6-6E10-308D-8285171C2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D1F02-6E04-95D6-29C6-7ED7D63FE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8BD80-FC1C-CEA1-D521-B8FA89BF3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5D74E-7F20-D4DF-C1AD-391D97BFB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64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8AF22-F9F6-1F7C-D424-D66D327B2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444F04-258E-DA90-CA05-DBD6DEA7F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26615B-6C6A-25D3-9740-5C1F4E24B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6C08B3-4C3B-D548-F30B-C398FCAE8C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66AA77-BC8D-A080-6A63-E78DAF3AE8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83C3B1-95A5-B59C-2026-E221DA525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59B96C-17FF-ABC1-9ABA-98035B257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1EF8D1-AA9E-3ADD-93ED-AA0B48CD0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536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92E90-1DEE-03FB-7A25-995493219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B62C06-EEC9-4FD1-39F5-04395DCD2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7D5FFA-44BB-1D46-DB1C-32500D882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356DD2-2695-A053-F151-6CE25342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39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676F8B-6D04-030B-5B5F-BC1A86D3C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8CCF48-0EE5-6C81-D4D5-869A0E60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B69DF-423D-05E3-5048-EDF3930FA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490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E9A72-7AFD-C09F-55F9-587214B6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598E6-2711-F8C5-119F-3EE29E48D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2151F1-FD8E-D090-EDDB-DABB29584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DCAF0-029A-844D-60F1-3241EA946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C893B-5DFB-F9A9-D64E-D6E990B82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11826-D76A-0C88-BD7A-68D25829A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596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3CF43-5BBE-3D38-1477-8F2BA7E36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760E9C-14D5-F425-FA2C-47440E5E28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C3323-E06C-49A1-DC61-144A20DAD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B1A54C-4EA4-704E-D792-3E241B51D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D4EA2C-1C62-D7B0-33E3-C089DDD82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9B269-0F7D-C93F-8619-779FB2B06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584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AB405-E739-18D2-203B-CECE26920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B53E5C-7D7B-1E6C-CAC6-6C6988284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B492C-08EA-6174-7B2A-5F7A1BFE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2A59E-7DE6-E681-40A9-45848A42E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4BEC6-0AEE-82BD-FBEA-A10DCDC0F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862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20696C-12CF-F9BB-D9B1-639848F657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2B5365-1769-1956-8160-A435C7BAC9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E437E-EC3D-3BB0-942C-ED51851E6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11E94-80A1-2DB5-31BD-40EF0C6FE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3DE9E-94D1-9BB9-4CED-BE03AAA2D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233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C6E2EE-D75B-EDBF-989C-BF29CCDDF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AAB1C-A320-DB97-FD3D-76DD9DB37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7DD78-5C8F-5E79-89AB-3B6B450FA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6CB8E-DCBE-814A-907C-3F1002299140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33427-8C11-56FB-8D4E-D7A17A25AA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6E861-5EAA-DD43-1FB4-BBAA0C5C4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4A15BB-81A1-2E1A-7BA8-6D310E44AD5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449469" y="5664817"/>
            <a:ext cx="3520661" cy="87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069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oelle.lebernegg@wur.n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0B527-BCB3-D1C1-3B42-55C6B11B9E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25965"/>
          </a:xfrm>
        </p:spPr>
        <p:txBody>
          <a:bodyPr>
            <a:normAutofit fontScale="90000"/>
          </a:bodyPr>
          <a:lstStyle/>
          <a:p>
            <a:r>
              <a:rPr lang="en-US" sz="5000" dirty="0">
                <a:solidFill>
                  <a:srgbClr val="005174"/>
                </a:solidFill>
              </a:rPr>
              <a:t>Collecting Data from Large Online Platforms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F49B91-8B68-58BC-C50B-E316754880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425965"/>
          </a:xfrm>
        </p:spPr>
        <p:txBody>
          <a:bodyPr>
            <a:noAutofit/>
          </a:bodyPr>
          <a:lstStyle/>
          <a:p>
            <a:r>
              <a:rPr lang="en-US" sz="2000" dirty="0" err="1">
                <a:solidFill>
                  <a:srgbClr val="005174"/>
                </a:solidFill>
              </a:rPr>
              <a:t>MethodsNET</a:t>
            </a:r>
            <a:r>
              <a:rPr lang="en-US" sz="2000" dirty="0">
                <a:solidFill>
                  <a:srgbClr val="005174"/>
                </a:solidFill>
              </a:rPr>
              <a:t> Summer School</a:t>
            </a:r>
          </a:p>
          <a:p>
            <a:r>
              <a:rPr lang="en-US" sz="2000" dirty="0">
                <a:solidFill>
                  <a:srgbClr val="005174"/>
                </a:solidFill>
              </a:rPr>
              <a:t>29.06 – 03.01, 09:00 – 15:15</a:t>
            </a:r>
          </a:p>
          <a:p>
            <a:r>
              <a:rPr lang="en-US" sz="2000" dirty="0">
                <a:solidFill>
                  <a:srgbClr val="005174"/>
                </a:solidFill>
                <a:highlight>
                  <a:srgbClr val="FFFF00"/>
                </a:highlight>
              </a:rPr>
              <a:t>WHERE?</a:t>
            </a:r>
          </a:p>
          <a:p>
            <a:endParaRPr lang="en-US" sz="2000" dirty="0">
              <a:solidFill>
                <a:srgbClr val="005174"/>
              </a:solidFill>
              <a:highlight>
                <a:srgbClr val="FFFF00"/>
              </a:highlight>
            </a:endParaRPr>
          </a:p>
          <a:p>
            <a:r>
              <a:rPr lang="en-US" sz="2000" dirty="0">
                <a:solidFill>
                  <a:srgbClr val="005174"/>
                </a:solidFill>
              </a:rPr>
              <a:t>Instructor: </a:t>
            </a:r>
          </a:p>
          <a:p>
            <a:r>
              <a:rPr lang="en-US" sz="2000" dirty="0">
                <a:solidFill>
                  <a:srgbClr val="005174"/>
                </a:solidFill>
              </a:rPr>
              <a:t>Dr. Noëlle Sophie Lebernegg</a:t>
            </a:r>
          </a:p>
          <a:p>
            <a:r>
              <a:rPr lang="en-US" sz="2000" dirty="0">
                <a:solidFill>
                  <a:srgbClr val="005174"/>
                </a:solidFill>
                <a:hlinkClick r:id="rId3"/>
              </a:rPr>
              <a:t>noelle.lebernegg@wur.nl</a:t>
            </a:r>
            <a:endParaRPr lang="en-US" sz="2000" dirty="0">
              <a:solidFill>
                <a:srgbClr val="005174"/>
              </a:solidFill>
            </a:endParaRPr>
          </a:p>
          <a:p>
            <a:endParaRPr lang="en-US" sz="2000" dirty="0">
              <a:solidFill>
                <a:srgbClr val="005174"/>
              </a:solidFill>
              <a:highlight>
                <a:srgbClr val="FFFF00"/>
              </a:highlight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0063FCD-6518-8AE3-C30F-CBEFC5E1D810}"/>
              </a:ext>
            </a:extLst>
          </p:cNvPr>
          <p:cNvSpPr txBox="1">
            <a:spLocks/>
          </p:cNvSpPr>
          <p:nvPr/>
        </p:nvSpPr>
        <p:spPr>
          <a:xfrm>
            <a:off x="1676400" y="2443995"/>
            <a:ext cx="9144000" cy="81196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>
                <a:solidFill>
                  <a:srgbClr val="005174"/>
                </a:solidFill>
              </a:rPr>
              <a:t>Using APIs, Web Scraping and DSA Applications</a:t>
            </a:r>
          </a:p>
        </p:txBody>
      </p:sp>
    </p:spTree>
    <p:extLst>
      <p:ext uri="{BB962C8B-B14F-4D97-AF65-F5344CB8AC3E}">
        <p14:creationId xmlns:p14="http://schemas.microsoft.com/office/powerpoint/2010/main" val="604927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E33A6-E9E2-5A75-86DD-2970D7128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Agenda for today…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11D33-6003-721D-CCD9-E1EAA6C58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Today’s goal:</a:t>
            </a:r>
          </a:p>
          <a:p>
            <a:pPr marL="0" indent="0">
              <a:buNone/>
            </a:pPr>
            <a:endParaRPr lang="en-US" sz="2000" dirty="0">
              <a:solidFill>
                <a:schemeClr val="accent1"/>
              </a:solidFill>
            </a:endParaRPr>
          </a:p>
          <a:p>
            <a:pPr lvl="1"/>
            <a:r>
              <a:rPr lang="en-US" sz="2000" dirty="0">
                <a:solidFill>
                  <a:schemeClr val="accent1"/>
                </a:solidFill>
              </a:rPr>
              <a:t>send an API request (we use the </a:t>
            </a:r>
            <a:r>
              <a:rPr lang="en-US" sz="2000" b="1" dirty="0" err="1">
                <a:solidFill>
                  <a:schemeClr val="accent1"/>
                </a:solidFill>
              </a:rPr>
              <a:t>MediaWiki</a:t>
            </a:r>
            <a:r>
              <a:rPr lang="en-US" sz="2000" b="1" dirty="0">
                <a:solidFill>
                  <a:schemeClr val="accent1"/>
                </a:solidFill>
              </a:rPr>
              <a:t> API </a:t>
            </a:r>
            <a:r>
              <a:rPr lang="en-US" sz="2000" dirty="0">
                <a:solidFill>
                  <a:schemeClr val="accent1"/>
                </a:solidFill>
              </a:rPr>
              <a:t>as example)</a:t>
            </a:r>
          </a:p>
          <a:p>
            <a:pPr lvl="1"/>
            <a:r>
              <a:rPr lang="en-US" sz="2000" dirty="0">
                <a:solidFill>
                  <a:schemeClr val="accent1"/>
                </a:solidFill>
              </a:rPr>
              <a:t>inspect the response</a:t>
            </a:r>
          </a:p>
          <a:p>
            <a:pPr lvl="1"/>
            <a:r>
              <a:rPr lang="en-US" sz="2000" dirty="0">
                <a:solidFill>
                  <a:schemeClr val="accent1"/>
                </a:solidFill>
              </a:rPr>
              <a:t>understand JSON</a:t>
            </a:r>
          </a:p>
          <a:p>
            <a:pPr lvl="1"/>
            <a:r>
              <a:rPr lang="en-US" sz="2000" dirty="0">
                <a:solidFill>
                  <a:schemeClr val="accent1"/>
                </a:solidFill>
              </a:rPr>
              <a:t>turn search results into a table</a:t>
            </a:r>
          </a:p>
          <a:p>
            <a:pPr lvl="1"/>
            <a:r>
              <a:rPr lang="en-US" sz="2000" dirty="0">
                <a:solidFill>
                  <a:schemeClr val="accent1"/>
                </a:solidFill>
              </a:rPr>
              <a:t>follow pagination</a:t>
            </a:r>
          </a:p>
          <a:p>
            <a:pPr lvl="1"/>
            <a:r>
              <a:rPr lang="en-US" sz="2000" dirty="0">
                <a:solidFill>
                  <a:schemeClr val="accent1"/>
                </a:solidFill>
              </a:rPr>
              <a:t>retrieve page-level data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0344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40EB5-DBCF-1F14-C1CB-D55131AFA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65236-7201-C507-D004-5143A309B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highlight>
                  <a:srgbClr val="FFFF00"/>
                </a:highlight>
              </a:rPr>
              <a:t>What is an API?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43A20-1689-6685-94B2-2E203B8AF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API = Application Programming Interface, i.e., a way for software systems to communicate.</a:t>
            </a:r>
          </a:p>
        </p:txBody>
      </p:sp>
      <p:pic>
        <p:nvPicPr>
          <p:cNvPr id="7" name="Picture 6" descr="frame_3258.webp">
            <a:extLst>
              <a:ext uri="{FF2B5EF4-FFF2-40B4-BE49-F238E27FC236}">
                <a16:creationId xmlns:a16="http://schemas.microsoft.com/office/drawing/2014/main" id="{CF9E2B3E-CB40-445C-8335-CF13A64AF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8059" y="2813913"/>
            <a:ext cx="508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548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301E6-1F94-2F12-668A-B5414CDBD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5418-86A3-AAAE-46DE-A13686D23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highlight>
                  <a:srgbClr val="FFFF00"/>
                </a:highlight>
              </a:rPr>
              <a:t>What is an API?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F1094-314C-62A1-A2F9-4D33D618C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API = Application Programming Interface, i.e., a way for software systems to communicate.</a:t>
            </a:r>
          </a:p>
        </p:txBody>
      </p:sp>
      <p:pic>
        <p:nvPicPr>
          <p:cNvPr id="4" name="Picture 3" descr="frame_3259.webp">
            <a:extLst>
              <a:ext uri="{FF2B5EF4-FFF2-40B4-BE49-F238E27FC236}">
                <a16:creationId xmlns:a16="http://schemas.microsoft.com/office/drawing/2014/main" id="{5A47F343-33D8-0A3E-00EB-802CB1D01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8059" y="2912766"/>
            <a:ext cx="508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086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260FE-ECFF-0268-05BA-97F7BA8F5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F5233-FD9F-505B-FDDB-8ED202803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How APIs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3A800-82C6-501F-EC81-0E4693AF7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APIs operate through a request response cycle between a client and a server</a:t>
            </a:r>
          </a:p>
          <a:p>
            <a:pPr marL="0" indent="0">
              <a:buNone/>
            </a:pPr>
            <a:endParaRPr lang="en-US" sz="2400" dirty="0">
              <a:solidFill>
                <a:schemeClr val="accent1"/>
              </a:solidFill>
            </a:endParaRPr>
          </a:p>
          <a:p>
            <a:r>
              <a:rPr lang="en-US" sz="2400" b="1" dirty="0">
                <a:solidFill>
                  <a:schemeClr val="accent1"/>
                </a:solidFill>
              </a:rPr>
              <a:t>Request</a:t>
            </a:r>
            <a:r>
              <a:rPr lang="en-US" sz="2400" dirty="0">
                <a:solidFill>
                  <a:schemeClr val="accent1"/>
                </a:solidFill>
              </a:rPr>
              <a:t>: The client sends a request to an API endpoint (URI).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Processing</a:t>
            </a:r>
            <a:r>
              <a:rPr lang="en-US" sz="2400" dirty="0">
                <a:solidFill>
                  <a:schemeClr val="accent1"/>
                </a:solidFill>
              </a:rPr>
              <a:t>: The API forwards the request to the server.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Response</a:t>
            </a:r>
            <a:r>
              <a:rPr lang="en-US" sz="2400" dirty="0">
                <a:solidFill>
                  <a:schemeClr val="accent1"/>
                </a:solidFill>
              </a:rPr>
              <a:t>: The server processes and sends back the requested data.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Delivery</a:t>
            </a:r>
            <a:r>
              <a:rPr lang="en-US" sz="2400" dirty="0">
                <a:solidFill>
                  <a:schemeClr val="accent1"/>
                </a:solidFill>
              </a:rPr>
              <a:t>: The API returns the server’s response to the client.</a:t>
            </a:r>
          </a:p>
          <a:p>
            <a:pPr marL="0" indent="0">
              <a:buNone/>
            </a:pPr>
            <a:endParaRPr lang="en-US" sz="24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0620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C1123-DECD-4079-C438-2430965C3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EBC7E-8309-FCF2-B52B-F2D348C66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Anatomy of an API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8743-820D-4C7B-CC96-CEFB7B708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An API request usually includes: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Endpoint</a:t>
            </a:r>
            <a:r>
              <a:rPr lang="en-US" sz="2400" dirty="0">
                <a:solidFill>
                  <a:schemeClr val="accent1"/>
                </a:solidFill>
              </a:rPr>
              <a:t>: where the request goes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Method</a:t>
            </a:r>
            <a:r>
              <a:rPr lang="en-US" sz="2400" dirty="0">
                <a:solidFill>
                  <a:schemeClr val="accent1"/>
                </a:solidFill>
              </a:rPr>
              <a:t>: what kind of request, e.g. GET or POST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Parameters</a:t>
            </a:r>
            <a:r>
              <a:rPr lang="en-US" sz="2400" dirty="0">
                <a:solidFill>
                  <a:schemeClr val="accent1"/>
                </a:solidFill>
              </a:rPr>
              <a:t>: what we ask for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Headers</a:t>
            </a:r>
            <a:r>
              <a:rPr lang="en-US" sz="2400" dirty="0">
                <a:solidFill>
                  <a:schemeClr val="accent1"/>
                </a:solidFill>
              </a:rPr>
              <a:t>: metadata about the request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Authentication</a:t>
            </a:r>
            <a:r>
              <a:rPr lang="en-US" sz="2400" dirty="0">
                <a:solidFill>
                  <a:schemeClr val="accent1"/>
                </a:solidFill>
              </a:rPr>
              <a:t>: key/token if required</a:t>
            </a:r>
          </a:p>
          <a:p>
            <a:pPr marL="0" indent="0">
              <a:buNone/>
            </a:pPr>
            <a:endParaRPr lang="en-US" sz="24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e.g., </a:t>
            </a:r>
            <a:r>
              <a:rPr lang="en-US" sz="2400" dirty="0" err="1">
                <a:solidFill>
                  <a:schemeClr val="accent1"/>
                </a:solidFill>
              </a:rPr>
              <a:t>MediaWiki</a:t>
            </a:r>
            <a:r>
              <a:rPr lang="en-US" sz="2400" dirty="0">
                <a:solidFill>
                  <a:schemeClr val="accent1"/>
                </a:solidFill>
              </a:rPr>
              <a:t> API: https://</a:t>
            </a:r>
            <a:r>
              <a:rPr lang="en-US" sz="2400" dirty="0" err="1">
                <a:solidFill>
                  <a:schemeClr val="accent1"/>
                </a:solidFill>
              </a:rPr>
              <a:t>en.wikipedia.org</a:t>
            </a:r>
            <a:r>
              <a:rPr lang="en-US" sz="2400" dirty="0">
                <a:solidFill>
                  <a:schemeClr val="accent1"/>
                </a:solidFill>
              </a:rPr>
              <a:t>/w/</a:t>
            </a:r>
            <a:r>
              <a:rPr lang="en-US" sz="2400" dirty="0" err="1">
                <a:solidFill>
                  <a:schemeClr val="accent1"/>
                </a:solidFill>
              </a:rPr>
              <a:t>api.php</a:t>
            </a:r>
            <a:endParaRPr lang="en-US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1198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4FC53-F638-B4D0-D043-B3723BA0A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E0F1D-23F4-5118-E71C-86045266B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465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9DDD4-B5D7-C516-15F9-D50DF992D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65F0F-4412-4F6D-F077-725E9AAE8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185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A219A-F6AD-EEF7-C3B0-DF87C1D6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74652-76F6-C73C-021A-1F8C04C25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Parameters to specify requests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ED81A-72E8-F410-B1BB-E31C5E079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4926" y="2055664"/>
            <a:ext cx="4777673" cy="228479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Use the query action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Return search results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Search for “digital services act”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Return JSON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C20420-ECDD-C782-6E0A-1FE11F855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00" y="2055664"/>
            <a:ext cx="5054600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415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17392-BBCC-6584-9815-8E74DD9C6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66616-FD3B-28CD-0D82-1914431AF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Parameters to specify requests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D4B5D-A100-8CE8-304B-8F006FE0A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4926" y="2055663"/>
            <a:ext cx="4777673" cy="337409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</a:rPr>
              <a:t>Other parameters are, for example </a:t>
            </a:r>
          </a:p>
          <a:p>
            <a:r>
              <a:rPr lang="en-US" sz="2200" dirty="0">
                <a:solidFill>
                  <a:schemeClr val="accent1"/>
                </a:solidFill>
              </a:rPr>
              <a:t>search term</a:t>
            </a:r>
          </a:p>
          <a:p>
            <a:r>
              <a:rPr lang="en-US" sz="2200" dirty="0">
                <a:solidFill>
                  <a:schemeClr val="accent1"/>
                </a:solidFill>
              </a:rPr>
              <a:t>result limit</a:t>
            </a:r>
          </a:p>
          <a:p>
            <a:r>
              <a:rPr lang="en-US" sz="2200" dirty="0">
                <a:solidFill>
                  <a:schemeClr val="accent1"/>
                </a:solidFill>
              </a:rPr>
              <a:t>language</a:t>
            </a:r>
          </a:p>
          <a:p>
            <a:r>
              <a:rPr lang="en-US" sz="2200" dirty="0">
                <a:solidFill>
                  <a:schemeClr val="accent1"/>
                </a:solidFill>
              </a:rPr>
              <a:t>date range</a:t>
            </a:r>
          </a:p>
          <a:p>
            <a:r>
              <a:rPr lang="en-US" sz="2200" dirty="0">
                <a:solidFill>
                  <a:schemeClr val="accent1"/>
                </a:solidFill>
              </a:rPr>
              <a:t>sorting</a:t>
            </a:r>
          </a:p>
          <a:p>
            <a:r>
              <a:rPr lang="en-US" sz="2200" dirty="0">
                <a:solidFill>
                  <a:schemeClr val="accent1"/>
                </a:solidFill>
              </a:rPr>
              <a:t>filters</a:t>
            </a:r>
          </a:p>
          <a:p>
            <a:r>
              <a:rPr lang="en-US" sz="2200" dirty="0">
                <a:solidFill>
                  <a:schemeClr val="accent1"/>
                </a:solidFill>
              </a:rPr>
              <a:t>content type</a:t>
            </a:r>
          </a:p>
          <a:p>
            <a:endParaRPr lang="en-US" sz="2400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63BBE1-5028-5DFF-CEF9-F1C9618B9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00" y="2055664"/>
            <a:ext cx="5054600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221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187DE-FEA2-2206-EC3C-7423F221E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6BF21-6943-B70D-DED7-9460CF143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highlight>
                  <a:srgbClr val="FFFF00"/>
                </a:highlight>
              </a:rPr>
              <a:t>Headers and User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1B04D-E870-0574-86B3-2311F1533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4926" y="2055664"/>
            <a:ext cx="4777673" cy="228479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A User-Agent identifies the script.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Good practice: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identify automated requests honestly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use timeouts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respect rate limits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follow API documentation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C5DF79-994A-D13D-845F-66C60E31D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738" y="2055664"/>
            <a:ext cx="54102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4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8FCAA-8C52-29EC-2203-877863F03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E46B1-EF96-3F73-D06B-91D7B1E8C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highlight>
                  <a:srgbClr val="FFFF00"/>
                </a:highlight>
              </a:rPr>
              <a:t>The Response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DAD42-ABD5-2350-31DF-BCBC65F58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27446"/>
            <a:ext cx="4777673" cy="22847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Contains..</a:t>
            </a:r>
          </a:p>
          <a:p>
            <a:r>
              <a:rPr lang="en-US" sz="2200" dirty="0" err="1">
                <a:solidFill>
                  <a:schemeClr val="accent1"/>
                </a:solidFill>
              </a:rPr>
              <a:t>response.url</a:t>
            </a:r>
            <a:endParaRPr lang="en-US" sz="2200" dirty="0">
              <a:solidFill>
                <a:schemeClr val="accent1"/>
              </a:solidFill>
            </a:endParaRPr>
          </a:p>
          <a:p>
            <a:r>
              <a:rPr lang="en-US" sz="2200" dirty="0" err="1">
                <a:solidFill>
                  <a:schemeClr val="accent1"/>
                </a:solidFill>
              </a:rPr>
              <a:t>response.status_code</a:t>
            </a:r>
            <a:endParaRPr lang="en-US" sz="2200" dirty="0">
              <a:solidFill>
                <a:schemeClr val="accent1"/>
              </a:solidFill>
            </a:endParaRPr>
          </a:p>
          <a:p>
            <a:r>
              <a:rPr lang="en-US" sz="2200" dirty="0" err="1">
                <a:solidFill>
                  <a:schemeClr val="accent1"/>
                </a:solidFill>
              </a:rPr>
              <a:t>response.headers</a:t>
            </a:r>
            <a:endParaRPr lang="en-US" sz="2200" dirty="0">
              <a:solidFill>
                <a:schemeClr val="accent1"/>
              </a:solidFill>
            </a:endParaRPr>
          </a:p>
          <a:p>
            <a:r>
              <a:rPr lang="en-US" sz="2200" dirty="0" err="1">
                <a:solidFill>
                  <a:schemeClr val="accent1"/>
                </a:solidFill>
              </a:rPr>
              <a:t>response.text</a:t>
            </a:r>
            <a:endParaRPr lang="en-US" sz="2200" dirty="0">
              <a:solidFill>
                <a:schemeClr val="accent1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8E76369-5DCF-741F-F4EB-38AFF3DB5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72664"/>
            <a:ext cx="69977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131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09E01-018F-F98D-C65B-B64E57C54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63F6F-DFDF-F46C-4245-051BE6EC6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Status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0B0D3-86C9-C0C9-6418-AE3288E57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Common HTTP status codes: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200 = OK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400 = bad request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401 = authentication needed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403 = forbidden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404 = not found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429 = too many requests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500+ = server-side problem</a:t>
            </a:r>
          </a:p>
        </p:txBody>
      </p:sp>
    </p:spTree>
    <p:extLst>
      <p:ext uri="{BB962C8B-B14F-4D97-AF65-F5344CB8AC3E}">
        <p14:creationId xmlns:p14="http://schemas.microsoft.com/office/powerpoint/2010/main" val="2687850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0637D-5378-2B8A-0F61-11928886D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61B3A-A761-7ED7-7838-CDBAB463F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Status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0C264-936F-EA53-3D26-463EAD4D8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Common HTTP status codes: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200 = OK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400 = bad request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401 = authentication needed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403 = forbidden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404 = not found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429 = too many requests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500+ = server-side problem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35F1063-6118-6B0D-C5FF-457CA4BBF74F}"/>
              </a:ext>
            </a:extLst>
          </p:cNvPr>
          <p:cNvSpPr txBox="1">
            <a:spLocks/>
          </p:cNvSpPr>
          <p:nvPr/>
        </p:nvSpPr>
        <p:spPr>
          <a:xfrm>
            <a:off x="6096000" y="17205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1"/>
                </a:solidFill>
              </a:rPr>
              <a:t>Good habit: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accent1"/>
              </a:solidFill>
            </a:endParaRPr>
          </a:p>
          <a:p>
            <a:r>
              <a:rPr lang="en-US" sz="2400" dirty="0">
                <a:solidFill>
                  <a:schemeClr val="accent1"/>
                </a:solidFill>
              </a:rPr>
              <a:t>If the response status is OK (i.e., 200), nothing happens..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If the response status code indicates an error, then this stops the script and raises an error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542886-3C71-7263-279E-E6FBD47AC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2442278"/>
            <a:ext cx="50546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511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C2233-EB2F-5888-3209-28360F00F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D592A-2F4C-BE5D-C7E4-3CCABE62C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JSON Payload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4E63E-239C-F163-3584-E69F4BE09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4926" y="2055663"/>
            <a:ext cx="4777673" cy="337409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</a:rPr>
              <a:t>Other parameters are, for example </a:t>
            </a:r>
          </a:p>
          <a:p>
            <a:r>
              <a:rPr lang="en-US" sz="2200" dirty="0">
                <a:solidFill>
                  <a:schemeClr val="accent1"/>
                </a:solidFill>
              </a:rPr>
              <a:t>search term</a:t>
            </a:r>
          </a:p>
          <a:p>
            <a:r>
              <a:rPr lang="en-US" sz="2200" dirty="0">
                <a:solidFill>
                  <a:schemeClr val="accent1"/>
                </a:solidFill>
              </a:rPr>
              <a:t>result limit</a:t>
            </a:r>
          </a:p>
          <a:p>
            <a:r>
              <a:rPr lang="en-US" sz="2200" dirty="0">
                <a:solidFill>
                  <a:schemeClr val="accent1"/>
                </a:solidFill>
              </a:rPr>
              <a:t>language</a:t>
            </a:r>
          </a:p>
          <a:p>
            <a:r>
              <a:rPr lang="en-US" sz="2200" dirty="0">
                <a:solidFill>
                  <a:schemeClr val="accent1"/>
                </a:solidFill>
              </a:rPr>
              <a:t>date range</a:t>
            </a:r>
          </a:p>
          <a:p>
            <a:r>
              <a:rPr lang="en-US" sz="2200" dirty="0">
                <a:solidFill>
                  <a:schemeClr val="accent1"/>
                </a:solidFill>
              </a:rPr>
              <a:t>sorting</a:t>
            </a:r>
          </a:p>
          <a:p>
            <a:r>
              <a:rPr lang="en-US" sz="2200" dirty="0">
                <a:solidFill>
                  <a:schemeClr val="accent1"/>
                </a:solidFill>
              </a:rPr>
              <a:t>filters</a:t>
            </a:r>
          </a:p>
          <a:p>
            <a:r>
              <a:rPr lang="en-US" sz="2200" dirty="0">
                <a:solidFill>
                  <a:schemeClr val="accent1"/>
                </a:solidFill>
              </a:rPr>
              <a:t>content type</a:t>
            </a:r>
          </a:p>
          <a:p>
            <a:endParaRPr lang="en-US" sz="2400" dirty="0">
              <a:solidFill>
                <a:schemeClr val="accent1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6FB511A-5E1B-13FB-0FEC-4E05C981B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55663"/>
            <a:ext cx="42926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610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38FBF-FE52-19FB-5AD3-64F4B6FAD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1008A-EB33-2F2E-79BB-D140794A8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APIs: First Access Route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35130-6640-9E37-B4B9-C34C0D8FA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912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BBFC4-29ED-F93B-4ADE-1C636E98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88A0D-E182-21A5-78CA-1D527CF52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APIs: First Access Route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9AE43-9C4A-A75B-A685-4734BB1D1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53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DF010-C8D7-EB1C-8EB9-C4FEC5375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E3043-15EC-ECF4-DE1A-76CA73D84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APIs: First Access Route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7DB8E-BBB4-0FB3-438F-1E3264E27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403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2719</TotalTime>
  <Words>661</Words>
  <Application>Microsoft Macintosh PowerPoint</Application>
  <PresentationFormat>Widescreen</PresentationFormat>
  <Paragraphs>152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Collecting Data from Large Online Platforms</vt:lpstr>
      <vt:lpstr>Agenda for today…</vt:lpstr>
      <vt:lpstr>What is an API?</vt:lpstr>
      <vt:lpstr>What is an API?</vt:lpstr>
      <vt:lpstr>How APIs Work</vt:lpstr>
      <vt:lpstr>Anatomy of an API request</vt:lpstr>
      <vt:lpstr>PowerPoint Presentation</vt:lpstr>
      <vt:lpstr>PowerPoint Presentation</vt:lpstr>
      <vt:lpstr>Parameters to specify requests</vt:lpstr>
      <vt:lpstr>Parameters to specify requests</vt:lpstr>
      <vt:lpstr>Headers and User Agents</vt:lpstr>
      <vt:lpstr>The Response Object</vt:lpstr>
      <vt:lpstr>Status Codes</vt:lpstr>
      <vt:lpstr>Status Codes</vt:lpstr>
      <vt:lpstr>JSON Payload</vt:lpstr>
      <vt:lpstr>APIs: First Access Route</vt:lpstr>
      <vt:lpstr>APIs: First Access Route</vt:lpstr>
      <vt:lpstr>APIs: First Access Route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Noelle Lebernegg</dc:creator>
  <cp:lastModifiedBy>Noelle Lebernegg</cp:lastModifiedBy>
  <cp:revision>14</cp:revision>
  <dcterms:created xsi:type="dcterms:W3CDTF">2026-03-26T08:23:57Z</dcterms:created>
  <dcterms:modified xsi:type="dcterms:W3CDTF">2026-06-26T15:30:47Z</dcterms:modified>
</cp:coreProperties>
</file>