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90" r:id="rId4"/>
    <p:sldId id="291" r:id="rId5"/>
    <p:sldId id="266" r:id="rId6"/>
    <p:sldId id="269" r:id="rId7"/>
    <p:sldId id="320" r:id="rId8"/>
    <p:sldId id="322" r:id="rId9"/>
    <p:sldId id="276" r:id="rId10"/>
    <p:sldId id="261" r:id="rId11"/>
    <p:sldId id="294" r:id="rId12"/>
    <p:sldId id="265" r:id="rId13"/>
    <p:sldId id="284" r:id="rId14"/>
    <p:sldId id="285" r:id="rId15"/>
    <p:sldId id="286" r:id="rId16"/>
    <p:sldId id="287" r:id="rId17"/>
    <p:sldId id="325" r:id="rId18"/>
    <p:sldId id="298" r:id="rId19"/>
    <p:sldId id="295" r:id="rId20"/>
    <p:sldId id="324" r:id="rId21"/>
    <p:sldId id="299" r:id="rId22"/>
    <p:sldId id="300" r:id="rId23"/>
    <p:sldId id="301" r:id="rId24"/>
    <p:sldId id="303" r:id="rId25"/>
    <p:sldId id="318" r:id="rId26"/>
    <p:sldId id="278" r:id="rId27"/>
    <p:sldId id="262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746A"/>
    <a:srgbClr val="740300"/>
    <a:srgbClr val="005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35"/>
    <p:restoredTop sz="87666"/>
  </p:normalViewPr>
  <p:slideViewPr>
    <p:cSldViewPr snapToGrid="0">
      <p:cViewPr varScale="1">
        <p:scale>
          <a:sx n="111" d="100"/>
          <a:sy n="111" d="100"/>
        </p:scale>
        <p:origin x="22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6A4D3-12C5-0B42-BA95-8BCAC7551791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8EFD2-C9A0-A146-8CE9-0A2B7CC7B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8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7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65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A1DA-A6A6-D3A8-0428-E511C912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233AA-98FB-D3F0-AD69-24BD42652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4486E-B2D6-6CD0-BD05-37298FA66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C8DEB-5965-D3D0-681D-C33BFBC36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50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ACFD-9504-7C48-C452-FC7E2ED1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2666C-9667-B0FB-C6D4-5685EC538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FAD7-50E4-6638-C859-F2E3D230F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ED14-2AFB-2F22-75A6-CDA3C59E5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17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FC9D-359D-2615-87AF-EC04D7A8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0EFAE-FA10-97FB-9637-D80F2575A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C5D20-EE19-6F2A-1016-3A1DA8B57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C85CC-727A-8050-191C-56556D422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68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2679-D08C-8E29-E623-90767CBC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8DEA7-D6FB-8076-A8F6-6AD1DFAED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B5C04-E6BE-7853-3D95-EE1512E95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48104-6DD9-54BF-8195-AFFA93D52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6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F461-58B0-D395-A871-961C6BC6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C7E86-313C-A5EA-0CD2-FB59D2460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DC760-6FA5-BABA-D10F-0180330B8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C093C-FBB8-FE92-B956-F97686647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22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4D285-F323-8A1E-0CEF-F8959EDB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7CA7B-3B39-4E73-9231-66ECE5AB3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A216E-F796-26D6-5CB4-C1713829F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D8E47-21D6-DF0F-70EB-A6049A573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74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7850-14F2-68C5-8A06-D2F017FD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2E806-BC20-E995-DAE2-37F43F025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D7048-312E-C7BB-1DF3-D4CDFACE5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62D5A-5EFE-CC99-1BD6-7F9515522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48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noellelebe</a:t>
            </a:r>
            <a:r>
              <a:rPr lang="en-US" dirty="0"/>
              <a:t>/</a:t>
            </a:r>
            <a:r>
              <a:rPr lang="en-US" dirty="0" err="1"/>
              <a:t>methodsNET_vlop</a:t>
            </a:r>
            <a:r>
              <a:rPr lang="en-US" dirty="0"/>
              <a:t>-course-materials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6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9CC9-0CBF-89CA-0020-B7B6613A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1176C-74AA-DABD-E2F1-4B7507E94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9FB9E-846F-D20A-6A65-85EC6677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2AC1F-C0CE-B1D5-1839-BBE014C59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45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09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DB14-58E2-958C-C6C6-DED621A1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F98EF-42EB-BBBE-8AC0-061A40597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34374-7B00-B032-FD31-E2F3B03F7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1"/>
                </a:solidFill>
              </a:rPr>
              <a:t>An access regime is the technical, legal, and institutional arrangement through which researchers can get access to data.</a:t>
            </a:r>
          </a:p>
          <a:p>
            <a:endParaRPr lang="en-US" dirty="0"/>
          </a:p>
          <a:p>
            <a:r>
              <a:rPr lang="en-US" dirty="0"/>
              <a:t>An access regime is the combination of:</a:t>
            </a:r>
          </a:p>
          <a:p>
            <a:r>
              <a:rPr lang="en-US" dirty="0"/>
              <a:t>technical access: API, website, dashboard, download</a:t>
            </a:r>
          </a:p>
          <a:p>
            <a:r>
              <a:rPr lang="en-US" dirty="0"/>
              <a:t>institutional access: approval, account, researcher status</a:t>
            </a:r>
          </a:p>
          <a:p>
            <a:r>
              <a:rPr lang="en-US" dirty="0"/>
              <a:t>legal access: terms, regulation, data protection</a:t>
            </a:r>
          </a:p>
          <a:p>
            <a:r>
              <a:rPr lang="en-US" dirty="0"/>
              <a:t>methodological access: what fields, time periods, and records are available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8AF1F-42E2-7FEF-5386-DA4D7D5AD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62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2988-0643-B9F1-9D31-447F076F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D27B2-19E5-6459-EB60-738093C84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4EC6E-996F-CFA8-4144-CFA3DE421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32413-CBE9-7C8B-77EF-2D29B9471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76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3592-B254-91F0-DFAB-800B4766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BAB80-3487-EDAF-ABA9-F5D59A442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1C9E0-EFFF-E815-D4AD-83E2C6791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C4669-B33C-122A-F43D-B17DB2260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49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285B-8A55-9364-3119-AB219467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3AF51-6793-7A29-95B4-02FE83ED4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4DE8D-DB9A-A7DE-1730-6979BB8D5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060D1-C1AD-D823-0F11-8E90CD361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72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EB32-46DF-FFB3-BFD7-21018DA9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197C2-EACB-574B-379F-C41568AED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9E8D5-6C12-07EA-09CF-A2E9CB0AC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1"/>
                </a:solidFill>
              </a:rPr>
              <a:t>DOM = </a:t>
            </a:r>
            <a:r>
              <a:rPr lang="en-US" dirty="0"/>
              <a:t>browser’s internal tree representation of a webpage.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4E7CB-EA27-F73A-2714-1DCFA676C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9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A044-D8CF-6D34-F12D-31A9F9A7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B08AC-6983-BB43-48AE-3FBB70A73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1D450-00B8-3D29-11F2-B3F24B386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17BEC-AB79-5B29-F611-73506680A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47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F6DB9-60AD-9C7C-389C-50ED6D1C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16A8F-A6C5-7BFE-325B-8980E9236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D7453-B595-66A0-0E51-5B29FD692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65344-BCAD-2B30-6321-EE19BB597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92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074ED-271C-CB18-0BD5-B5D06A72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89A24-A48B-6441-0BC8-E3D43488A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FFC95-0287-5490-E527-E89AADFC8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B50DA-E49C-BD7E-7E68-E996D33BC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202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515B-4A2F-0A16-3F98-99D71AB7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AA73C-EE43-7B1D-4D43-235FAF1F9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21582-B369-8455-F5A9-E75E78897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7AA7B-66D5-7705-3227-EB6751E4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62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AA94-0231-62FB-7592-486EC0E1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B603F-EF98-384F-9B4C-9D6DBDEE0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71422-F00F-3E76-AE23-EAF2C53F7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689A8-1E3A-8227-602B-14786B303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97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CA67-3AB4-FBB0-E2D7-32B7E8AE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C4016-6E3D-53E9-1123-73C78B776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E472F-081E-46C6-46AC-1A3ED8F97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98EE8-9EBF-6D60-DD80-EF340BD2B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373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0876-8145-A546-ADB6-0A2B98CF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795B4-E898-EE1D-98DD-68E07CA4E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96E44-CBA6-6AB8-864A-FFE280542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E707C-C2DF-1F33-763A-B5213E26F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86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4059A-51D7-D829-2D81-3F53E85A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C34A1-B6AF-41FC-BA68-43430D278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A2D59-F955-0BF8-717A-5509EAC43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8257A-360B-ED00-664E-4FDD4E215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230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7844-1F54-6B17-BD85-AEFB2F8C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31CC6-0373-6CFD-EDEC-697757F6A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3FAEB-C114-F0DE-F882-C4B987965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research, APIs can help us collect structured data from platforms, databases, or services.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2715C-307F-44B9-7AAB-1A31649FF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402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B45F-1925-C993-4D16-2EDD4955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CA2D9-9456-F7EC-8DC1-C8F665EFD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EACDC-32C1-C9B0-6E22-4ECA6772D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6A8F6-FBFE-C7A4-1FE6-3C975A358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155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AB12-E4BE-2895-5942-8EB3594F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7AFE7-48E9-FF99-5E65-E91DF6095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E2B31-C66D-6B10-48B6-024035544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6F75-A8C9-FA91-51FD-42BB66D70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9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B812-05A1-FCCD-5FF9-6F6B992DB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7A3B8-37BA-00B0-C6D8-B55C0E4C5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5D69-C480-626A-1B26-56C57642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A35D0-A54E-D875-A287-B6BAAA38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53D9-0141-CA22-23B6-67AA38A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1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0226-CDDC-EE76-377B-9E102A1D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6F0-6F75-2110-EA9C-4344F0B4A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281F-7570-03DC-D78D-62E2A989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03A5E-8490-EAF7-6ED5-C08D296C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555A-92DB-0D8E-007D-C333D683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1F5D-7F46-3C20-9109-A0E08214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4DE42-ADBC-0BAD-04D8-97B9C78A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DCEC7-5AD6-F284-50D7-31744643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62A3-3074-C0E4-4220-3D7448EB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52B6A-5BB9-90C8-523D-39BA9385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3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6FC6-09E2-41C8-BF60-6DEDA81D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55E6-A104-3C9D-A517-E06430116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4E1F5-55F6-6E10-308D-8285171C2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D1F02-6E04-95D6-29C6-7ED7D63F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8BD80-FC1C-CEA1-D521-B8FA89BF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5D74E-7F20-D4DF-C1AD-391D97BF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6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AF22-F9F6-1F7C-D424-D66D327B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44F04-258E-DA90-CA05-DBD6DEA7F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6615B-6C6A-25D3-9740-5C1F4E24B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C08B3-4C3B-D548-F30B-C398FCAE8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6AA77-BC8D-A080-6A63-E78DAF3AE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3C3B1-95A5-B59C-2026-E221DA52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9B96C-17FF-ABC1-9ABA-98035B25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EF8D1-AA9E-3ADD-93ED-AA0B48CD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3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2E90-1DEE-03FB-7A25-99549321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62C06-EEC9-4FD1-39F5-04395DCD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D5FFA-44BB-1D46-DB1C-32500D88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56DD2-2695-A053-F151-6CE25342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76F8B-6D04-030B-5B5F-BC1A86D3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CCF48-0EE5-6C81-D4D5-869A0E60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B69DF-423D-05E3-5048-EDF3930F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9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9A72-7AFD-C09F-55F9-587214B6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598E6-2711-F8C5-119F-3EE29E48D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151F1-FD8E-D090-EDDB-DABB29584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DCAF0-029A-844D-60F1-3241EA946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C893B-5DFB-F9A9-D64E-D6E990B8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1826-D76A-0C88-BD7A-68D25829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CF43-5BBE-3D38-1477-8F2BA7E3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60E9C-14D5-F425-FA2C-47440E5E2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C3323-E06C-49A1-DC61-144A20DA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1A54C-4EA4-704E-D792-3E241B51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4EA2C-1C62-D7B0-33E3-C089DDD8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9B269-0F7D-C93F-8619-779FB2B0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8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B405-E739-18D2-203B-CECE2692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53E5C-7D7B-1E6C-CAC6-6C6988284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492C-08EA-6174-7B2A-5F7A1BFE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A59E-7DE6-E681-40A9-45848A42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4BEC6-0AEE-82BD-FBEA-A10DCDC0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6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0696C-12CF-F9BB-D9B1-639848F65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B5365-1769-1956-8160-A435C7BAC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437E-EC3D-3BB0-942C-ED51851E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11E94-80A1-2DB5-31BD-40EF0C6F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3DE9E-94D1-9BB9-4CED-BE03AAA2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6E2EE-D75B-EDBF-989C-BF29CCDD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AAB1C-A320-DB97-FD3D-76DD9DB3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DD78-5C8F-5E79-89AB-3B6B450FA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3427-8C11-56FB-8D4E-D7A17A25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E861-5EAA-DD43-1FB4-BBAA0C5C4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A15BB-81A1-2E1A-7BA8-6D310E44AD5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9469" y="5664817"/>
            <a:ext cx="3520661" cy="87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6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oelle.lebernegg@wur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B527-BCB3-D1C1-3B42-55C6B11B9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25965"/>
          </a:xfrm>
        </p:spPr>
        <p:txBody>
          <a:bodyPr>
            <a:normAutofit fontScale="90000"/>
          </a:bodyPr>
          <a:lstStyle/>
          <a:p>
            <a:r>
              <a:rPr lang="en-US" sz="5000" dirty="0">
                <a:solidFill>
                  <a:srgbClr val="005174"/>
                </a:solidFill>
              </a:rPr>
              <a:t>Collecting Data from Large Online Platforms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49B91-8B68-58BC-C50B-E31675488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425965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rgbClr val="005174"/>
                </a:solidFill>
              </a:rPr>
              <a:t>MethodsNET</a:t>
            </a:r>
            <a:r>
              <a:rPr lang="en-US" sz="2000" dirty="0">
                <a:solidFill>
                  <a:srgbClr val="005174"/>
                </a:solidFill>
              </a:rPr>
              <a:t> Summer School</a:t>
            </a:r>
          </a:p>
          <a:p>
            <a:r>
              <a:rPr lang="en-US" sz="2000" dirty="0">
                <a:solidFill>
                  <a:srgbClr val="005174"/>
                </a:solidFill>
              </a:rPr>
              <a:t>29.06 – 03.01, 09:00 – 15:15</a:t>
            </a:r>
          </a:p>
          <a:p>
            <a:r>
              <a:rPr lang="en-US" sz="2000" dirty="0">
                <a:solidFill>
                  <a:srgbClr val="005174"/>
                </a:solidFill>
              </a:rPr>
              <a:t>A201</a:t>
            </a:r>
          </a:p>
          <a:p>
            <a:endParaRPr lang="en-US" sz="2000" dirty="0">
              <a:solidFill>
                <a:srgbClr val="005174"/>
              </a:solidFill>
              <a:highlight>
                <a:srgbClr val="FFFF00"/>
              </a:highlight>
            </a:endParaRPr>
          </a:p>
          <a:p>
            <a:r>
              <a:rPr lang="en-US" sz="2000" dirty="0">
                <a:solidFill>
                  <a:srgbClr val="005174"/>
                </a:solidFill>
              </a:rPr>
              <a:t>Instructor: </a:t>
            </a:r>
          </a:p>
          <a:p>
            <a:r>
              <a:rPr lang="en-US" sz="2000" dirty="0">
                <a:solidFill>
                  <a:srgbClr val="005174"/>
                </a:solidFill>
              </a:rPr>
              <a:t>Dr. Noëlle Sophie Lebernegg</a:t>
            </a:r>
          </a:p>
          <a:p>
            <a:r>
              <a:rPr lang="en-US" sz="2000" dirty="0">
                <a:solidFill>
                  <a:srgbClr val="005174"/>
                </a:solidFill>
                <a:hlinkClick r:id="rId3"/>
              </a:rPr>
              <a:t>noelle.lebernegg@wur.nl</a:t>
            </a:r>
            <a:endParaRPr lang="en-US" sz="2000" dirty="0">
              <a:solidFill>
                <a:srgbClr val="005174"/>
              </a:solidFill>
            </a:endParaRPr>
          </a:p>
          <a:p>
            <a:endParaRPr lang="en-US" sz="2000" dirty="0">
              <a:solidFill>
                <a:srgbClr val="005174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063FCD-6518-8AE3-C30F-CBEFC5E1D810}"/>
              </a:ext>
            </a:extLst>
          </p:cNvPr>
          <p:cNvSpPr txBox="1">
            <a:spLocks/>
          </p:cNvSpPr>
          <p:nvPr/>
        </p:nvSpPr>
        <p:spPr>
          <a:xfrm>
            <a:off x="1676400" y="2443995"/>
            <a:ext cx="9144000" cy="8119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rgbClr val="005174"/>
                </a:solidFill>
              </a:rPr>
              <a:t>Using APIs, Web Scraping and DSA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492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33A6-E9E2-5A75-86DD-2970D712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Agenda for 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1D33-6003-721D-CCD9-E1EAA6C58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Course overview and requirements</a:t>
            </a:r>
          </a:p>
          <a:p>
            <a:r>
              <a:rPr lang="en-US" dirty="0">
                <a:solidFill>
                  <a:schemeClr val="accent1"/>
                </a:solidFill>
              </a:rPr>
              <a:t>Introductions</a:t>
            </a:r>
          </a:p>
          <a:p>
            <a:r>
              <a:rPr lang="en-US" dirty="0">
                <a:solidFill>
                  <a:schemeClr val="accent1"/>
                </a:solidFill>
              </a:rPr>
              <a:t>Brief overview of access regimes</a:t>
            </a:r>
          </a:p>
          <a:p>
            <a:r>
              <a:rPr lang="en-US" dirty="0">
                <a:solidFill>
                  <a:schemeClr val="accent1"/>
                </a:solidFill>
              </a:rPr>
              <a:t>API Basics and first request</a:t>
            </a:r>
          </a:p>
          <a:p>
            <a:r>
              <a:rPr lang="en-US" dirty="0">
                <a:solidFill>
                  <a:schemeClr val="accent1"/>
                </a:solidFill>
              </a:rPr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227034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B18D-2295-1BCD-EFEB-05663360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DE2AF-BD61-1F43-B7FF-3DEE4FB0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Collecting Platform Data: 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E53FB-AB37-ADE7-64F1-0F539F6F0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474" y="1839349"/>
            <a:ext cx="9951349" cy="2390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Goal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1"/>
                </a:solidFill>
              </a:rPr>
              <a:t>Learn how to </a:t>
            </a:r>
            <a:r>
              <a:rPr lang="en-US" sz="2500" b="1" dirty="0">
                <a:solidFill>
                  <a:schemeClr val="accent1"/>
                </a:solidFill>
              </a:rPr>
              <a:t>collect</a:t>
            </a:r>
            <a:r>
              <a:rPr lang="en-US" sz="2500" dirty="0">
                <a:solidFill>
                  <a:schemeClr val="accent1"/>
                </a:solidFill>
              </a:rPr>
              <a:t>, </a:t>
            </a:r>
            <a:r>
              <a:rPr lang="en-US" sz="2500" b="1" dirty="0">
                <a:solidFill>
                  <a:schemeClr val="accent1"/>
                </a:solidFill>
              </a:rPr>
              <a:t>document</a:t>
            </a:r>
            <a:r>
              <a:rPr lang="en-US" sz="2500" dirty="0">
                <a:solidFill>
                  <a:schemeClr val="accent1"/>
                </a:solidFill>
              </a:rPr>
              <a:t>, and </a:t>
            </a:r>
            <a:r>
              <a:rPr lang="en-US" sz="2500" b="1" dirty="0">
                <a:solidFill>
                  <a:schemeClr val="accent1"/>
                </a:solidFill>
              </a:rPr>
              <a:t>critically</a:t>
            </a:r>
            <a:r>
              <a:rPr lang="en-US" sz="2500" dirty="0">
                <a:solidFill>
                  <a:schemeClr val="accent1"/>
                </a:solidFill>
              </a:rPr>
              <a:t> </a:t>
            </a:r>
            <a:r>
              <a:rPr lang="en-US" sz="2500" b="1" dirty="0">
                <a:solidFill>
                  <a:schemeClr val="accent1"/>
                </a:solidFill>
              </a:rPr>
              <a:t>assess</a:t>
            </a:r>
            <a:r>
              <a:rPr lang="en-US" sz="2500" dirty="0">
                <a:solidFill>
                  <a:schemeClr val="accent1"/>
                </a:solidFill>
              </a:rPr>
              <a:t> data from online platforms.</a:t>
            </a:r>
          </a:p>
          <a:p>
            <a:pPr marL="0" indent="0">
              <a:buNone/>
            </a:pPr>
            <a:endParaRPr lang="en-US" sz="3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500" dirty="0">
                <a:solidFill>
                  <a:schemeClr val="accent1"/>
                </a:solidFill>
              </a:rPr>
              <a:t>By the end of the week, participants can </a:t>
            </a:r>
            <a:r>
              <a:rPr lang="en-US" sz="2500" b="1" dirty="0">
                <a:solidFill>
                  <a:schemeClr val="accent1"/>
                </a:solidFill>
              </a:rPr>
              <a:t>design</a:t>
            </a:r>
            <a:r>
              <a:rPr lang="en-US" sz="2500" dirty="0">
                <a:solidFill>
                  <a:schemeClr val="accent1"/>
                </a:solidFill>
              </a:rPr>
              <a:t> and </a:t>
            </a:r>
            <a:r>
              <a:rPr lang="en-US" sz="2500" b="1" dirty="0">
                <a:solidFill>
                  <a:schemeClr val="accent1"/>
                </a:solidFill>
              </a:rPr>
              <a:t>critique</a:t>
            </a:r>
            <a:r>
              <a:rPr lang="en-US" sz="2500" dirty="0">
                <a:solidFill>
                  <a:schemeClr val="accent1"/>
                </a:solidFill>
              </a:rPr>
              <a:t> a </a:t>
            </a:r>
            <a:r>
              <a:rPr lang="en-US" sz="2500" b="1" dirty="0">
                <a:solidFill>
                  <a:schemeClr val="accent1"/>
                </a:solidFill>
              </a:rPr>
              <a:t>reproducible platform data collection </a:t>
            </a:r>
            <a:r>
              <a:rPr lang="en-US" sz="2500" dirty="0">
                <a:solidFill>
                  <a:schemeClr val="accent1"/>
                </a:solidFill>
              </a:rPr>
              <a:t>workflow.</a:t>
            </a:r>
          </a:p>
          <a:p>
            <a:pPr marL="0" indent="0">
              <a:buNone/>
            </a:pPr>
            <a:endParaRPr lang="en-US" sz="25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80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C8FC-BE6A-5DF0-08D0-64AA729A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A75B-B016-7EE2-8A6E-3478CCD6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Collecting Platform Data: 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D27C-BD44-7341-6196-6C2896C33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Methods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Application Programming Interface (APIs)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Static web scraping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Browser automation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Platform/transparency tools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AI-assisted collection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51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7B21-C776-96C8-8612-260E88E8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7469-06C6-473A-7D66-FE1BE604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The Times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2DF95-CD9A-8B71-1FE2-672AE5A70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654" y="449206"/>
            <a:ext cx="6975325" cy="59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8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D2959-37E3-C39D-CA4C-87FD2F86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C0F3-37ED-1CF1-82B5-CB0884E7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EFDBF-AEAF-851C-6BFC-FA94835BC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181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chemeClr val="accent1"/>
                </a:solidFill>
              </a:rPr>
              <a:t>2 ECTS</a:t>
            </a:r>
          </a:p>
          <a:p>
            <a:r>
              <a:rPr lang="en-US" dirty="0">
                <a:solidFill>
                  <a:schemeClr val="accent1"/>
                </a:solidFill>
              </a:rPr>
              <a:t>Attendance: 90%, i.e., a maximum of 2h can be missed</a:t>
            </a:r>
          </a:p>
          <a:p>
            <a:r>
              <a:rPr lang="en-US" dirty="0">
                <a:solidFill>
                  <a:schemeClr val="accent1"/>
                </a:solidFill>
              </a:rPr>
              <a:t>Daily assignments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>
                <a:solidFill>
                  <a:schemeClr val="accent1"/>
                </a:solidFill>
              </a:rPr>
              <a:t>Additional 2 ECTS</a:t>
            </a:r>
          </a:p>
          <a:p>
            <a:r>
              <a:rPr lang="en-US" dirty="0">
                <a:solidFill>
                  <a:schemeClr val="accent1"/>
                </a:solidFill>
              </a:rPr>
              <a:t>Final Submission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62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8437-D5D9-FF46-09ED-B5CA0033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C180-873F-32F9-DA80-B11FFEC3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Daily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6BD7-318D-CD93-4DB7-6AAC9094C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18151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Submit in class exercises by end of each day </a:t>
            </a:r>
          </a:p>
          <a:p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 err="1">
                <a:solidFill>
                  <a:schemeClr val="accent1"/>
                </a:solidFill>
              </a:rPr>
              <a:t>py</a:t>
            </a:r>
            <a:r>
              <a:rPr lang="en-US" dirty="0">
                <a:solidFill>
                  <a:schemeClr val="accent1"/>
                </a:solidFill>
              </a:rPr>
              <a:t> or .</a:t>
            </a:r>
            <a:r>
              <a:rPr lang="en-US" dirty="0" err="1">
                <a:solidFill>
                  <a:schemeClr val="accent1"/>
                </a:solidFill>
              </a:rPr>
              <a:t>ipynb</a:t>
            </a:r>
            <a:r>
              <a:rPr lang="en-US" dirty="0">
                <a:solidFill>
                  <a:schemeClr val="accent1"/>
                </a:solidFill>
              </a:rPr>
              <a:t> files only</a:t>
            </a:r>
          </a:p>
          <a:p>
            <a:r>
              <a:rPr lang="en-US" dirty="0">
                <a:solidFill>
                  <a:schemeClr val="accent1"/>
                </a:solidFill>
              </a:rPr>
              <a:t>Submission via Moodle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311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B3A0-1481-F3D7-E584-FFEDBA37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9F5F-9FAA-8345-C937-AF61494F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Final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AE02C-EC54-2934-A979-911028CCA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181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Submit a small, well-documented workflow that collects data from an online source relevant to your research.</a:t>
            </a:r>
          </a:p>
          <a:p>
            <a:pPr marL="0" indent="0">
              <a:buNone/>
            </a:pPr>
            <a:r>
              <a:rPr lang="en-US" sz="2200" u="sng" dirty="0">
                <a:solidFill>
                  <a:schemeClr val="accent1"/>
                </a:solidFill>
              </a:rPr>
              <a:t>Your submission should include: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a short research question / collection goal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one chosen data source and access route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runnable Python script or notebook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raw and processed data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provenance note: where the data came from, how collected, parameters/selectors, date, outputs</a:t>
            </a:r>
          </a:p>
          <a:p>
            <a:r>
              <a:rPr lang="en-US" sz="1800" dirty="0">
                <a:solidFill>
                  <a:schemeClr val="accent1"/>
                </a:solidFill>
              </a:rPr>
              <a:t>short reflection on data quality, limitations, ethics, and access conditions</a:t>
            </a:r>
          </a:p>
        </p:txBody>
      </p:sp>
    </p:spTree>
    <p:extLst>
      <p:ext uri="{BB962C8B-B14F-4D97-AF65-F5344CB8AC3E}">
        <p14:creationId xmlns:p14="http://schemas.microsoft.com/office/powerpoint/2010/main" val="152378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0DE3-FBA4-A051-3F96-384FE17E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9E7A-4FDE-E925-FA96-F6B3095A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Grading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AC9BD2-B650-45AB-8BC1-39D47D68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91537"/>
            <a:ext cx="7772400" cy="407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2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9BF8-5FC7-E80A-487C-9E609790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Course Material on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F018-E9BE-9E9B-46BC-7F7C41F6E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endParaRPr lang="en-US" dirty="0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endParaRPr lang="en-US" dirty="0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https://</a:t>
            </a:r>
            <a:r>
              <a:rPr lang="en-US" dirty="0" err="1">
                <a:solidFill>
                  <a:schemeClr val="accent1"/>
                </a:solidFill>
              </a:rPr>
              <a:t>github.com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noellelebe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methodsNET_vlop</a:t>
            </a:r>
            <a:r>
              <a:rPr lang="en-US" dirty="0">
                <a:solidFill>
                  <a:schemeClr val="accent1"/>
                </a:solidFill>
              </a:rPr>
              <a:t>-course-materials</a:t>
            </a:r>
          </a:p>
        </p:txBody>
      </p:sp>
    </p:spTree>
    <p:extLst>
      <p:ext uri="{BB962C8B-B14F-4D97-AF65-F5344CB8AC3E}">
        <p14:creationId xmlns:p14="http://schemas.microsoft.com/office/powerpoint/2010/main" val="417117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027C-D741-38FE-B058-373623C0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9C8D-9F7D-9068-56BE-98E6A255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880C-3F56-3DEB-3D65-54AE30D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US" sz="40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66366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6F2B-9CDA-2EC4-7693-7D19235F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8C81-10D1-CD25-CAF7-76CB8DDC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77268-5320-B086-EF87-AEB108951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Name and affiliation</a:t>
            </a:r>
          </a:p>
          <a:p>
            <a:r>
              <a:rPr lang="en-US" dirty="0">
                <a:solidFill>
                  <a:schemeClr val="accent1"/>
                </a:solidFill>
              </a:rPr>
              <a:t>Research area / current project</a:t>
            </a:r>
          </a:p>
          <a:p>
            <a:r>
              <a:rPr lang="en-US" dirty="0">
                <a:solidFill>
                  <a:schemeClr val="accent1"/>
                </a:solidFill>
              </a:rPr>
              <a:t>Your experience with Python / APIs / scraping</a:t>
            </a:r>
          </a:p>
          <a:p>
            <a:r>
              <a:rPr lang="en-US" dirty="0">
                <a:solidFill>
                  <a:schemeClr val="accent1"/>
                </a:solidFill>
              </a:rPr>
              <a:t>One thing you hope to get out of the course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One platform, website, or data source you are interested in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What kind of data you would like to collect or access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906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A275-9CF3-D3B9-89F3-812A10B5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E2C1-B7D7-4A11-F8F3-0D37870C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What is an Access Regime?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CD0FA-4379-755C-5C9B-000EB638D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Access regime refers to </a:t>
            </a:r>
            <a:r>
              <a:rPr lang="en-US" i="1" dirty="0">
                <a:solidFill>
                  <a:schemeClr val="accent1"/>
                </a:solidFill>
              </a:rPr>
              <a:t>how data access is organized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Varies by:</a:t>
            </a:r>
          </a:p>
          <a:p>
            <a:r>
              <a:rPr lang="en-US" sz="2400" u="sng" dirty="0">
                <a:solidFill>
                  <a:schemeClr val="accent1"/>
                </a:solidFill>
              </a:rPr>
              <a:t>The technical route</a:t>
            </a:r>
            <a:r>
              <a:rPr lang="en-US" sz="2400" dirty="0">
                <a:solidFill>
                  <a:schemeClr val="accent1"/>
                </a:solidFill>
              </a:rPr>
              <a:t>: such as API, scraping, dashboard, download</a:t>
            </a:r>
          </a:p>
          <a:p>
            <a:r>
              <a:rPr lang="en-US" sz="2400" u="sng" dirty="0">
                <a:solidFill>
                  <a:schemeClr val="accent1"/>
                </a:solidFill>
              </a:rPr>
              <a:t>The rules</a:t>
            </a:r>
            <a:r>
              <a:rPr lang="en-US" sz="2400" dirty="0">
                <a:solidFill>
                  <a:schemeClr val="accent1"/>
                </a:solidFill>
              </a:rPr>
              <a:t>: such as terms of service, eligibility, law, terms, regulation, data protection</a:t>
            </a:r>
          </a:p>
          <a:p>
            <a:r>
              <a:rPr lang="en-US" sz="2400" u="sng" dirty="0">
                <a:solidFill>
                  <a:schemeClr val="accent1"/>
                </a:solidFill>
              </a:rPr>
              <a:t>The limits</a:t>
            </a:r>
            <a:r>
              <a:rPr lang="en-US" sz="2400" dirty="0">
                <a:solidFill>
                  <a:schemeClr val="accent1"/>
                </a:solidFill>
              </a:rPr>
              <a:t>: such as fields, rate limits, time periods, and records are available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29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5A86-1FA0-8EFD-F5D3-BDBB2566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A963-51C2-A8BA-C0DA-B57A4350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Why Access Regimes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845C-5D3A-0A7D-7D6F-0A5948388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What we can study depends on: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what platforms make visible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what interfaces allow us to collect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what gets filtered, ranked, hidden, or removed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what laws and terms permit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what technical systems return</a:t>
            </a:r>
          </a:p>
        </p:txBody>
      </p:sp>
    </p:spTree>
    <p:extLst>
      <p:ext uri="{BB962C8B-B14F-4D97-AF65-F5344CB8AC3E}">
        <p14:creationId xmlns:p14="http://schemas.microsoft.com/office/powerpoint/2010/main" val="3761707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9A8B-5A8D-A2C6-B936-6A7AA9AB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08FC-C420-E64D-8C15-424139E2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Main Access Routes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19E3-32BC-2830-4D6A-0F9613E6F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Open or public APIs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Platform research APIs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Web scraping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Browser automation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AI-assisted collection workflows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Transparency databases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DSA-based researcher access</a:t>
            </a:r>
          </a:p>
        </p:txBody>
      </p:sp>
    </p:spTree>
    <p:extLst>
      <p:ext uri="{BB962C8B-B14F-4D97-AF65-F5344CB8AC3E}">
        <p14:creationId xmlns:p14="http://schemas.microsoft.com/office/powerpoint/2010/main" val="166070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B8EA-A1A4-9EAF-5BB5-2BA43E2B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C75D-8BC7-58B9-3B27-4E4D190D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Application Programming Interface (APIs)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8228-C06B-FA5D-559E-26DC3866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APIs allow software to request structured data from a system.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Examples: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Wikipedia / </a:t>
            </a:r>
            <a:r>
              <a:rPr lang="en-US" sz="2400" dirty="0" err="1">
                <a:solidFill>
                  <a:schemeClr val="accent1"/>
                </a:solidFill>
              </a:rPr>
              <a:t>MediaWiki</a:t>
            </a:r>
            <a:r>
              <a:rPr lang="en-US" sz="2400" dirty="0">
                <a:solidFill>
                  <a:schemeClr val="accent1"/>
                </a:solidFill>
              </a:rPr>
              <a:t>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YouTube Data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TikTok Research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Reddit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OpenAI API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25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FCED-5867-3CEC-4C21-A289828F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AAF4-E704-EAC2-F0BA-30C3C9E6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Application Programming Interface (APIs)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BB2FC-8B49-9FCE-AA15-B17490AAD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Strengths:</a:t>
            </a:r>
          </a:p>
          <a:p>
            <a:r>
              <a:rPr lang="en-US" dirty="0">
                <a:solidFill>
                  <a:schemeClr val="accent1"/>
                </a:solidFill>
              </a:rPr>
              <a:t>structured responses</a:t>
            </a:r>
          </a:p>
          <a:p>
            <a:r>
              <a:rPr lang="en-US" dirty="0">
                <a:solidFill>
                  <a:schemeClr val="accent1"/>
                </a:solidFill>
              </a:rPr>
              <a:t>explicit parameters</a:t>
            </a:r>
          </a:p>
          <a:p>
            <a:r>
              <a:rPr lang="en-US" dirty="0">
                <a:solidFill>
                  <a:schemeClr val="accent1"/>
                </a:solidFill>
              </a:rPr>
              <a:t>reproducible requests</a:t>
            </a:r>
          </a:p>
          <a:p>
            <a:r>
              <a:rPr lang="en-US" dirty="0">
                <a:solidFill>
                  <a:schemeClr val="accent1"/>
                </a:solidFill>
              </a:rPr>
              <a:t>often easier to document</a:t>
            </a:r>
          </a:p>
          <a:p>
            <a:r>
              <a:rPr lang="en-US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3C2B2A-F5CA-9A72-7FF2-8D4E3E72C4D8}"/>
              </a:ext>
            </a:extLst>
          </p:cNvPr>
          <p:cNvSpPr txBox="1">
            <a:spLocks/>
          </p:cNvSpPr>
          <p:nvPr/>
        </p:nvSpPr>
        <p:spPr>
          <a:xfrm>
            <a:off x="6095999" y="1690688"/>
            <a:ext cx="58027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Limitations: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platform decides fields and limits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rate limits and authentication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missing deleted/hidden/ranked content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API data may not match user experience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93061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1003-1423-E720-7073-B9D958F4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0238-5E7C-682D-C652-A6A3EFC6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Platform Research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C35C-DD6C-0D3F-B153-6102EEB3E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Platform-provided or platform-mediated systems for research/transparency access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Examples: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Meta Content Library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TikTok Research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YouTube Data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platform transparency dashboards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downloadable platform reports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55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27D5-E676-1EAA-6C59-A27B4E3A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202B-33AB-A05D-3BAA-FF6A292E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79331-EC8D-5108-C22F-E547A2A52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With web scraping, we can collect data from web pages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Useful when: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there is no suitable API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the public interface itself matters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data are visible in HTML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…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916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6C4C-D37E-2AFA-72FE-5B3D6D88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4D2BA-9944-7BF2-983E-5243100D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Web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34C3E-022F-7CCF-3430-64CCD8679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Strengths:</a:t>
            </a:r>
          </a:p>
          <a:p>
            <a:r>
              <a:rPr lang="en-US" dirty="0">
                <a:solidFill>
                  <a:schemeClr val="accent1"/>
                </a:solidFill>
              </a:rPr>
              <a:t>observes browser-facing content</a:t>
            </a:r>
          </a:p>
          <a:p>
            <a:r>
              <a:rPr lang="en-US" dirty="0">
                <a:solidFill>
                  <a:schemeClr val="accent1"/>
                </a:solidFill>
              </a:rPr>
              <a:t>flexible across websites</a:t>
            </a:r>
          </a:p>
          <a:p>
            <a:r>
              <a:rPr lang="en-US" dirty="0">
                <a:solidFill>
                  <a:schemeClr val="accent1"/>
                </a:solidFill>
              </a:rPr>
              <a:t>can capture layout/context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…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B7B13C-0906-97A8-E234-1C7E75F54591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3523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Limitations: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fragile selectors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dynamic pages may hide content from requests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pages can change without warning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legal/ethical constraints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266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9BAB-22A5-24C5-CB63-2D9170A3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90CF-031C-015F-2101-116B8FA2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Transparency Databases and Ad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44937-D5FD-EB80-86B9-197F65E0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Transparency tools provide structured public or regulatory data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Examples: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DSA Transparency Database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Meta Ad Library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Google Ads Transparency Center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TikTok Commercial Content Library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LinkedIn Ad Library</a:t>
            </a:r>
          </a:p>
        </p:txBody>
      </p:sp>
    </p:spTree>
    <p:extLst>
      <p:ext uri="{BB962C8B-B14F-4D97-AF65-F5344CB8AC3E}">
        <p14:creationId xmlns:p14="http://schemas.microsoft.com/office/powerpoint/2010/main" val="1660844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0A531-115B-17C5-8E27-FE1D4FD05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7DCE-AADB-92F1-9176-FA4C8D2F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Transparency Databases and Ad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EBB1-AF22-5DD6-3777-EB2A57001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Strengths: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designed for transparency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often searchable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useful for moderation or advertising research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DD237D-127C-1B67-EC00-A508D3A684CE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3523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Limitations:</a:t>
            </a:r>
          </a:p>
          <a:p>
            <a:r>
              <a:rPr lang="en-US" sz="2400">
                <a:solidFill>
                  <a:schemeClr val="accent1"/>
                </a:solidFill>
              </a:rPr>
              <a:t>partial reporting</a:t>
            </a:r>
          </a:p>
          <a:p>
            <a:r>
              <a:rPr lang="en-US" sz="2400">
                <a:solidFill>
                  <a:schemeClr val="accent1"/>
                </a:solidFill>
              </a:rPr>
              <a:t>platform-defined categories</a:t>
            </a:r>
          </a:p>
          <a:p>
            <a:r>
              <a:rPr lang="en-US" sz="2400">
                <a:solidFill>
                  <a:schemeClr val="accent1"/>
                </a:solidFill>
              </a:rPr>
              <a:t>missing context</a:t>
            </a:r>
          </a:p>
          <a:p>
            <a:r>
              <a:rPr lang="en-US" sz="2400">
                <a:solidFill>
                  <a:schemeClr val="accent1"/>
                </a:solidFill>
              </a:rPr>
              <a:t>varying quality and completeness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637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8230-3017-B77B-BC31-A3644623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6A27-DA29-C9E0-C710-411DCC92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DSA-Based Researcher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39881-1B64-E621-B85D-E82B09C39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The Digital Services Act (DSA) creates access mechanisms for studying systemic risks.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Relevant distinction: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public-data access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vetted researcher access to non-public data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313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2C00-26C6-A0BE-D106-08ACEEED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5622-4A5A-9DEC-DF84-11A2BB6B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Comparing Access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13136-F599-BB98-62C4-DD54A6F13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EC0DF-D3E6-ADD2-0B05-9183B3277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90" y="1965795"/>
            <a:ext cx="8224020" cy="292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09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3D5C8-EFF4-F8CA-249E-BA95B1E4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2861-4BC7-567E-A88D-B0D64125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A174-2C00-58F6-C1F2-4DF3416B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US" sz="40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58123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40EB5-DBCF-1F14-C1CB-D55131AFA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5236-7201-C507-D004-5143A309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3A20-1689-6685-94B2-2E203B8AF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API = Application Programming Interface, i.e., a way for software systems to communicate.</a:t>
            </a:r>
          </a:p>
        </p:txBody>
      </p:sp>
      <p:pic>
        <p:nvPicPr>
          <p:cNvPr id="7" name="Picture 6" descr="frame_3258.webp">
            <a:extLst>
              <a:ext uri="{FF2B5EF4-FFF2-40B4-BE49-F238E27FC236}">
                <a16:creationId xmlns:a16="http://schemas.microsoft.com/office/drawing/2014/main" id="{CF9E2B3E-CB40-445C-8335-CF13A64AF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59" y="2813913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48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60FE-ECFF-0268-05BA-97F7BA8F5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5233-FD9F-505B-FDDB-8ED20280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APIs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A800-82C6-501F-EC81-0E4693AF7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APIs operate through a request response cycle between a client and a server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Request</a:t>
            </a:r>
            <a:r>
              <a:rPr lang="en-US" sz="2400" dirty="0">
                <a:solidFill>
                  <a:schemeClr val="accent1"/>
                </a:solidFill>
              </a:rPr>
              <a:t>: The client sends a request to an API endpoint (URI).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Processing</a:t>
            </a:r>
            <a:r>
              <a:rPr lang="en-US" sz="2400" dirty="0">
                <a:solidFill>
                  <a:schemeClr val="accent1"/>
                </a:solidFill>
              </a:rPr>
              <a:t>: The API forwards the request to the server.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Response</a:t>
            </a:r>
            <a:r>
              <a:rPr lang="en-US" sz="2400" dirty="0">
                <a:solidFill>
                  <a:schemeClr val="accent1"/>
                </a:solidFill>
              </a:rPr>
              <a:t>: The server processes and sends back the requested data.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Delivery</a:t>
            </a:r>
            <a:r>
              <a:rPr lang="en-US" sz="2400" dirty="0">
                <a:solidFill>
                  <a:schemeClr val="accent1"/>
                </a:solidFill>
              </a:rPr>
              <a:t>: The API returns the server’s response to the client.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620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1123-DECD-4079-C438-2430965C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BC7E-8309-FCF2-B52B-F2D348C6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Anatomy of an API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8743-820D-4C7B-CC96-CEFB7B708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 API request usually includes: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Endpoint</a:t>
            </a:r>
            <a:r>
              <a:rPr lang="en-US" sz="2400" dirty="0">
                <a:solidFill>
                  <a:schemeClr val="accent1"/>
                </a:solidFill>
              </a:rPr>
              <a:t>: where the request goes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Method</a:t>
            </a:r>
            <a:r>
              <a:rPr lang="en-US" sz="2400" dirty="0">
                <a:solidFill>
                  <a:schemeClr val="accent1"/>
                </a:solidFill>
              </a:rPr>
              <a:t>: what kind of request, e.g. GET or POST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Parameters</a:t>
            </a:r>
            <a:r>
              <a:rPr lang="en-US" sz="2400" dirty="0">
                <a:solidFill>
                  <a:schemeClr val="accent1"/>
                </a:solidFill>
              </a:rPr>
              <a:t>: what we ask for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Headers</a:t>
            </a:r>
            <a:r>
              <a:rPr lang="en-US" sz="2400" dirty="0">
                <a:solidFill>
                  <a:schemeClr val="accent1"/>
                </a:solidFill>
              </a:rPr>
              <a:t>: metadata about the request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Authentication</a:t>
            </a:r>
            <a:r>
              <a:rPr lang="en-US" sz="2400" dirty="0">
                <a:solidFill>
                  <a:schemeClr val="accent1"/>
                </a:solidFill>
              </a:rPr>
              <a:t>: key/token if required</a:t>
            </a:r>
          </a:p>
          <a:p>
            <a:pPr marL="1371600" lvl="3" indent="0">
              <a:buNone/>
            </a:pP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19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3545</TotalTime>
  <Words>1001</Words>
  <Application>Microsoft Macintosh PowerPoint</Application>
  <PresentationFormat>Widescreen</PresentationFormat>
  <Paragraphs>217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Collecting Data from Large Online Platforms</vt:lpstr>
      <vt:lpstr>Agenda for today…</vt:lpstr>
      <vt:lpstr>Collecting Platform Data: Course Overview</vt:lpstr>
      <vt:lpstr>Collecting Platform Data: Course Overview</vt:lpstr>
      <vt:lpstr>The Times</vt:lpstr>
      <vt:lpstr>Requirements</vt:lpstr>
      <vt:lpstr>Daily Assignments</vt:lpstr>
      <vt:lpstr>Final Submission</vt:lpstr>
      <vt:lpstr>Grading</vt:lpstr>
      <vt:lpstr>Course Material on GitHub</vt:lpstr>
      <vt:lpstr>PowerPoint Presentation</vt:lpstr>
      <vt:lpstr>Introduction</vt:lpstr>
      <vt:lpstr>What is an Access Regime? </vt:lpstr>
      <vt:lpstr>Why Access Regimes Matter</vt:lpstr>
      <vt:lpstr>Main Access Routes in this Course</vt:lpstr>
      <vt:lpstr>Application Programming Interface (APIs)</vt:lpstr>
      <vt:lpstr>Application Programming Interface (APIs)</vt:lpstr>
      <vt:lpstr>Platform Research Tools</vt:lpstr>
      <vt:lpstr>Web Scraping</vt:lpstr>
      <vt:lpstr>Web Scraping</vt:lpstr>
      <vt:lpstr>Transparency Databases and Ad Libraries</vt:lpstr>
      <vt:lpstr>Transparency Databases and Ad Libraries</vt:lpstr>
      <vt:lpstr>DSA-Based Researcher Access</vt:lpstr>
      <vt:lpstr>Comparing Access Routes</vt:lpstr>
      <vt:lpstr>PowerPoint Presentation</vt:lpstr>
      <vt:lpstr>What is an API?</vt:lpstr>
      <vt:lpstr>How APIs Work</vt:lpstr>
      <vt:lpstr>Anatomy of an API request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Noelle Lebernegg</dc:creator>
  <cp:lastModifiedBy>Noelle Lebernegg</cp:lastModifiedBy>
  <cp:revision>28</cp:revision>
  <dcterms:created xsi:type="dcterms:W3CDTF">2026-03-26T08:23:57Z</dcterms:created>
  <dcterms:modified xsi:type="dcterms:W3CDTF">2026-06-29T11:29:36Z</dcterms:modified>
</cp:coreProperties>
</file>