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90" r:id="rId4"/>
    <p:sldId id="291" r:id="rId5"/>
    <p:sldId id="293" r:id="rId6"/>
    <p:sldId id="266" r:id="rId7"/>
    <p:sldId id="269" r:id="rId8"/>
    <p:sldId id="273" r:id="rId9"/>
    <p:sldId id="270" r:id="rId10"/>
    <p:sldId id="275" r:id="rId11"/>
    <p:sldId id="268" r:id="rId12"/>
    <p:sldId id="276" r:id="rId13"/>
    <p:sldId id="261" r:id="rId14"/>
    <p:sldId id="294" r:id="rId15"/>
    <p:sldId id="265" r:id="rId16"/>
    <p:sldId id="284" r:id="rId17"/>
    <p:sldId id="285" r:id="rId18"/>
    <p:sldId id="286" r:id="rId19"/>
    <p:sldId id="287" r:id="rId20"/>
    <p:sldId id="288" r:id="rId21"/>
    <p:sldId id="289" r:id="rId22"/>
    <p:sldId id="295" r:id="rId23"/>
    <p:sldId id="313" r:id="rId24"/>
    <p:sldId id="314" r:id="rId25"/>
    <p:sldId id="296" r:id="rId26"/>
    <p:sldId id="297" r:id="rId27"/>
    <p:sldId id="315" r:id="rId28"/>
    <p:sldId id="298" r:id="rId29"/>
    <p:sldId id="299" r:id="rId30"/>
    <p:sldId id="300" r:id="rId31"/>
    <p:sldId id="316" r:id="rId32"/>
    <p:sldId id="301" r:id="rId33"/>
    <p:sldId id="302" r:id="rId34"/>
    <p:sldId id="317" r:id="rId35"/>
    <p:sldId id="303" r:id="rId36"/>
    <p:sldId id="304" r:id="rId37"/>
    <p:sldId id="318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D746A"/>
    <a:srgbClr val="740300"/>
    <a:srgbClr val="0051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5"/>
    <p:restoredTop sz="87671"/>
  </p:normalViewPr>
  <p:slideViewPr>
    <p:cSldViewPr snapToGrid="0">
      <p:cViewPr varScale="1">
        <p:scale>
          <a:sx n="111" d="100"/>
          <a:sy n="111" d="100"/>
        </p:scale>
        <p:origin x="115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56A4D3-12C5-0B42-BA95-8BCAC7551791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8EFD2-C9A0-A146-8CE9-0A2B7CC7B8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18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7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26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BA1DA-A6A6-D3A8-0428-E511C9129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E233AA-98FB-D3F0-AD69-24BD42652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B4486E-B2D6-6CD0-BD05-37298FA664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C8DEB-5965-D3D0-681D-C33BFBC363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7500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ACFD-9504-7C48-C452-FC7E2ED16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2666C-9667-B0FB-C6D4-5685EC538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41FAD7-50E4-6638-C859-F2E3D230F9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53ED14-2AFB-2F22-75A6-CDA3C59E5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917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B99A8-0AB1-C67B-9370-B1F1C06668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6BAC29-4A26-AFBE-AEBF-784DCA82E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3640A0-C22E-2466-A6D7-177128889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9BF96-6756-D535-A1BB-D5B8B522D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634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0FC9D-359D-2615-87AF-EC04D7A8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60EFAE-FA10-97FB-9637-D80F2575AA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C5D20-EE19-6F2A-1016-3A1DA8B57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C85CC-727A-8050-191C-56556D4220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6688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D2679-D08C-8E29-E623-90767CBCE4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8DEA7-D6FB-8076-A8F6-6AD1DFAED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BB5C04-E6BE-7853-3D95-EE1512E957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48104-6DD9-54BF-8195-AFFA93D524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165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630A1-51AF-4AA5-B310-D2EE8F6F2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EA8466-FAD5-F5D9-D537-1575D7A62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0DBFD6-8333-7860-522D-0B05F36509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09851C-CEC8-62E5-AEF3-53D5B21C9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8860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EB9A2-3CEC-D6BF-F211-2FF88A3A4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9EA029-44DB-A3F1-1AA3-4D278FDF52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29AF7E-45E6-2C02-DF01-E1A3FDB54F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06945F-B847-9C7D-4527-F8E88FF7F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8815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7C1D-4437-12B2-C88E-ABF90ABEE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57E214-B4DB-A91F-3A2A-F893CE4A0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4DA61-9F2B-E8FE-E99A-E9E6684365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99C592-77FD-555D-7F20-E2448D6889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0799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A7850-14F2-68C5-8A06-D2F017FDE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2E806-BC20-E995-DAE2-37F43F025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D7048-312E-C7BB-1DF3-D4CDFACE51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962D5A-5EFE-CC99-1BD6-7F95155221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948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29CC9-0CBF-89CA-0020-B7B6613AE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C1176C-74AA-DABD-E2F1-4B7507E94E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39FB9E-846F-D20A-6A65-85EC66778B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2AC1F-C0CE-B1D5-1839-BBE014C598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1453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7097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8DB14-58E2-958C-C6C6-DED621A1B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8F98EF-42EB-BBBE-8AC0-061A40597B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834374-7B00-B032-FD31-E2F3B03F7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chemeClr val="accent1"/>
                </a:solidFill>
              </a:rPr>
              <a:t>An access regime is the technical, legal, and institutional arrangement through which researchers can get access to data.</a:t>
            </a:r>
          </a:p>
          <a:p>
            <a:endParaRPr lang="en-US" dirty="0"/>
          </a:p>
          <a:p>
            <a:r>
              <a:rPr lang="en-US" dirty="0"/>
              <a:t>An access regime is the combination of:</a:t>
            </a:r>
          </a:p>
          <a:p>
            <a:r>
              <a:rPr lang="en-US" dirty="0"/>
              <a:t>technical access: API, website, dashboard, download</a:t>
            </a:r>
          </a:p>
          <a:p>
            <a:r>
              <a:rPr lang="en-US" dirty="0"/>
              <a:t>institutional access: approval, account, researcher status</a:t>
            </a:r>
          </a:p>
          <a:p>
            <a:r>
              <a:rPr lang="en-US" dirty="0"/>
              <a:t>legal access: terms, regulation, data protection</a:t>
            </a:r>
          </a:p>
          <a:p>
            <a:r>
              <a:rPr lang="en-US" dirty="0"/>
              <a:t>methodological access: what fields, time periods, and records are available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8AF1F-42E2-7FEF-5386-DA4D7D5AD6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1624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32988-0643-B9F1-9D31-447F076F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FD27B2-19E5-6459-EB60-738093C84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04EC6E-996F-CFA8-4144-CFA3DE421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832413-CBE9-7C8B-77EF-2D29B9471B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1763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E3592-B254-91F0-DFAB-800B47667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BAB80-3487-EDAF-ABA9-F5D59A442D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1C9E0-EFFF-E815-D4AD-83E2C6791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C4669-B33C-122A-F43D-B17DB22606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849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28285B-8A55-9364-3119-AB219467E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83AF51-6793-7A29-95B4-02FE83ED49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84DE8D-DB9A-A7DE-1730-6979BB8D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060D1-C1AD-D823-0F11-8E90CD361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6721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83B74-78D6-BF1A-D31D-60025A4C7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A941D7-3C81-341C-C217-FE22E5AC3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C2AF3F-3557-3E5C-9194-B8AF3A74A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E3D114-22DC-39FF-4326-7B2564E07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96431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95B5B-EC05-7334-DFD8-7AD0566E2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C573A4-98D1-43DB-0D0C-AB3E412B27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0D264D-5009-DA1C-B921-B930E55D28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69E24-F6CF-CDBC-4142-24345697CC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2588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F6DB9-60AD-9C7C-389C-50ED6D1C3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116A8F-A6C5-7BFE-325B-8980E92363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D7453-B595-66A0-0E51-5B29FD692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65344-BCAD-2B30-6321-EE19BB597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9289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D67A6-49E5-07AF-67D6-E105C7DD8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18DA9-1BE5-8213-3A63-F5F263737D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8E8D6-D589-DE2B-1BF8-144EAE1CC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24697-BEF7-78AF-8C0A-A1BD864715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8754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A0910-7419-E396-257A-EC30AF26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CB104-39C4-6180-F754-DBA894E658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6A7AB8-EA7B-0749-BBEE-5349009CD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216838-4C4F-3ABD-91F1-460E048D3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4345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803FD-EABC-BC6E-2E0D-37E469BF8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568B56-A6EE-ECC4-038B-D9406B477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EAD02-A4DA-CA45-D292-1792DA789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E40D7-D78E-9B35-F70E-7F418DA40C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8129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E02DA-CEFE-C4B3-483D-393F8551B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3419BC-4F4F-065A-34BC-268FA6E3E0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2DFE0-531C-6E5F-8F05-AC51C44BE5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235EC2-A2E9-2C90-6F4B-EBF62F6D1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48955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55373-0106-4BC1-6B35-5503BF503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4AB3A-FAF1-28E5-5334-BF9AEE65C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FCC686-0B5A-7E70-99B4-45911CF21E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7DA20-89DA-2B17-1867-A2975B8796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0218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AA044-D8CF-6D34-F12D-31A9F9A76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CB08AC-6983-BB43-48AE-3FBB70A73E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1D450-00B8-3D29-11F2-B3F24B386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17BEC-AB79-5B29-F611-73506680AA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364738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A515B-4A2F-0A16-3F98-99D71AB71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AA73C-EE43-7B1D-4D43-235FAF1F9A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A21582-B369-8455-F5A9-E75E78897E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47AA7B-66D5-7705-3227-EB6751E471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623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6AA94-0231-62FB-7592-486EC0E1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5B603F-EF98-384F-9B4C-9D6DBDEE0B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A71422-F00F-3E76-AE23-EAF2C53F7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2689A8-1E3A-8227-602B-14786B303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99754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F8929-7A42-7C96-C5BD-34037A02DB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FFA9F-E92B-F20F-F04A-438E61FD22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43895-826A-353E-7103-DC747F7AD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F2DC81-BD6E-FDB7-CD22-5F7ED7338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30946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2CA67-3AB4-FBB0-E2D7-32B7E8AEF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C4016-6E3D-53E9-1123-73C78B776E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E472F-081E-46C6-46AC-1A3ED8F974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98EE8-9EBF-6D60-DD80-EF340BD2BD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3733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DDB57-5698-2EB0-944F-9C2E9F30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3B962-9D68-91B8-AE53-052C3B188F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A1C86C-7AAD-F570-6613-8F517BA11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260D48-45CA-076F-D379-6E5279A155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0152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65BE6-03C1-F652-2011-F427EEC5D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BA6DEF-8493-D55A-E8B3-A1B4BA9BF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CB29B2-A15A-A728-BCB0-844EBB61A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7B35E-1FEE-2C68-64F2-294A26988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48954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30876-8145-A546-ADB6-0A2B98CF5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795B4-E898-EE1D-98DD-68E07CA4E6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896E44-CBA6-6AB8-864A-FFE2805422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E707C-C2DF-1F33-763A-B5213E26F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98695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BF3F9-EF2E-FF5F-203E-EE0C81497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A24FD9-C085-7481-A501-31B0F0D7F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FB925-0445-635D-1E05-EB38D9352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35D29-3589-3AB1-4AF3-859F0BB11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9009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4059A-51D7-D829-2D81-3F53E85AC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C34A1-B6AF-41FC-BA68-43430D278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1A2D59-F955-0BF8-717A-5509EAC43B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98257A-360B-ED00-664E-4FDD4E215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8EFD2-C9A0-A146-8CE9-0A2B7CC7B867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923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BB812-05A1-FCCD-5FF9-6F6B992D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87A3B8-37BA-00B0-C6D8-B55C0E4C54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D05D69-C480-626A-1B26-56C57642A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A35D0-A54E-D875-A287-B6BAAA381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353D9-0141-CA22-23B6-67AA38A2D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99122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B0226-CDDC-EE76-377B-9E102A1DE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C96F0-6F75-2110-EA9C-4344F0B4A8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D281F-7570-03DC-D78D-62E2A989B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103A5E-8490-EAF7-6ED5-C08D296CA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2A555A-92DB-0D8E-007D-C333D683D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35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71F5D-7F46-3C20-9109-A0E082149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4DE42-ADBC-0BAD-04D8-97B9C78A7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BDCEC7-5AD6-F284-50D7-3174464393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4F62A3-3074-C0E4-4220-3D7448EB3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52B6A-5BB9-90C8-523D-39BA93855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83333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1E6FC6-09E2-41C8-BF60-6DEDA81D7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B455E6-A104-3C9D-A517-E064301161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4E1F5-55F6-6E10-308D-8285171C2D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AD1F02-6E04-95D6-29C6-7ED7D63FE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18BD80-FC1C-CEA1-D521-B8FA89BF3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5D74E-7F20-D4DF-C1AD-391D97BFB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64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8AF22-F9F6-1F7C-D424-D66D327B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444F04-258E-DA90-CA05-DBD6DEA7F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6615B-6C6A-25D3-9740-5C1F4E24B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6C08B3-4C3B-D548-F30B-C398FCAE8C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66AA77-BC8D-A080-6A63-E78DAF3AE8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83C3B1-95A5-B59C-2026-E221DA525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59B96C-17FF-ABC1-9ABA-98035B257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1EF8D1-AA9E-3ADD-93ED-AA0B48CD0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6536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92E90-1DEE-03FB-7A25-995493219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62C06-EEC9-4FD1-39F5-04395DCD2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7D5FFA-44BB-1D46-DB1C-32500D882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356DD2-2695-A053-F151-6CE253425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39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676F8B-6D04-030B-5B5F-BC1A86D3C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8CCF48-0EE5-6C81-D4D5-869A0E60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2B69DF-423D-05E3-5048-EDF3930FA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4909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E9A72-7AFD-C09F-55F9-587214B6B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98E6-2711-F8C5-119F-3EE29E48D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2151F1-FD8E-D090-EDDB-DABB29584F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FDCAF0-029A-844D-60F1-3241EA946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C893B-5DFB-F9A9-D64E-D6E990B82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411826-D76A-0C88-BD7A-68D25829A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596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3CF43-5BBE-3D38-1477-8F2BA7E36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D760E9C-14D5-F425-FA2C-47440E5E28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C3323-E06C-49A1-DC61-144A20DAD0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B1A54C-4EA4-704E-D792-3E241B51D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D4EA2C-1C62-D7B0-33E3-C089DDD82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B269-0F7D-C93F-8619-779FB2B06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8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AB405-E739-18D2-203B-CECE26920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53E5C-7D7B-1E6C-CAC6-6C69882841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B492C-08EA-6174-7B2A-5F7A1BFED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2A59E-7DE6-E681-40A9-45848A42E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BEC6-0AEE-82BD-FBEA-A10DCDC0F0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62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20696C-12CF-F9BB-D9B1-639848F657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2B5365-1769-1956-8160-A435C7BAC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0E437E-EC3D-3BB0-942C-ED51851E6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A11E94-80A1-2DB5-31BD-40EF0C6FE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3DE9E-94D1-9BB9-4CED-BE03AAA2DE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335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C6E2EE-D75B-EDBF-989C-BF29CCDDF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AAB1C-A320-DB97-FD3D-76DD9DB37F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7DD78-5C8F-5E79-89AB-3B6B450FAE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6CB8E-DCBE-814A-907C-3F1002299140}" type="datetimeFigureOut">
              <a:rPr lang="en-US" smtClean="0"/>
              <a:t>6/26/26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33427-8C11-56FB-8D4E-D7A17A25AA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6E861-5EAA-DD43-1FB4-BBAA0C5C4F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0625D1-58CC-5C4C-833B-51F6B4044859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4A15BB-81A1-2E1A-7BA8-6D310E44AD5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449469" y="5664817"/>
            <a:ext cx="3520661" cy="874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0069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noelle.lebernegg@wur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0B527-BCB3-D1C1-3B42-55C6B11B9E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25965"/>
          </a:xfrm>
        </p:spPr>
        <p:txBody>
          <a:bodyPr>
            <a:normAutofit fontScale="90000"/>
          </a:bodyPr>
          <a:lstStyle/>
          <a:p>
            <a:r>
              <a:rPr lang="en-US" sz="5000" dirty="0">
                <a:solidFill>
                  <a:srgbClr val="005174"/>
                </a:solidFill>
              </a:rPr>
              <a:t>Collecting Data from Large Online Platforms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F49B91-8B68-58BC-C50B-E316754880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425965"/>
          </a:xfrm>
        </p:spPr>
        <p:txBody>
          <a:bodyPr>
            <a:noAutofit/>
          </a:bodyPr>
          <a:lstStyle/>
          <a:p>
            <a:r>
              <a:rPr lang="en-US" sz="2000" dirty="0" err="1">
                <a:solidFill>
                  <a:srgbClr val="005174"/>
                </a:solidFill>
              </a:rPr>
              <a:t>MethodsNET</a:t>
            </a:r>
            <a:r>
              <a:rPr lang="en-US" sz="2000" dirty="0">
                <a:solidFill>
                  <a:srgbClr val="005174"/>
                </a:solidFill>
              </a:rPr>
              <a:t> Summer School</a:t>
            </a:r>
          </a:p>
          <a:p>
            <a:r>
              <a:rPr lang="en-US" sz="2000" dirty="0">
                <a:solidFill>
                  <a:srgbClr val="005174"/>
                </a:solidFill>
              </a:rPr>
              <a:t>29.06 – 03.01, 09:00 – 15:15</a:t>
            </a:r>
          </a:p>
          <a:p>
            <a:r>
              <a:rPr lang="en-US" sz="2000" dirty="0">
                <a:solidFill>
                  <a:srgbClr val="005174"/>
                </a:solidFill>
                <a:highlight>
                  <a:srgbClr val="FFFF00"/>
                </a:highlight>
              </a:rPr>
              <a:t>WHERE?</a:t>
            </a: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  <a:p>
            <a:r>
              <a:rPr lang="en-US" sz="2000" dirty="0">
                <a:solidFill>
                  <a:srgbClr val="005174"/>
                </a:solidFill>
              </a:rPr>
              <a:t>Instructor: </a:t>
            </a:r>
          </a:p>
          <a:p>
            <a:r>
              <a:rPr lang="en-US" sz="2000" dirty="0">
                <a:solidFill>
                  <a:srgbClr val="005174"/>
                </a:solidFill>
              </a:rPr>
              <a:t>Dr. Noëlle Sophie Lebernegg</a:t>
            </a:r>
          </a:p>
          <a:p>
            <a:r>
              <a:rPr lang="en-US" sz="2000" dirty="0">
                <a:solidFill>
                  <a:srgbClr val="005174"/>
                </a:solidFill>
                <a:hlinkClick r:id="rId3"/>
              </a:rPr>
              <a:t>noelle.lebernegg@wur.nl</a:t>
            </a:r>
            <a:endParaRPr lang="en-US" sz="2000" dirty="0">
              <a:solidFill>
                <a:srgbClr val="005174"/>
              </a:solidFill>
            </a:endParaRPr>
          </a:p>
          <a:p>
            <a:endParaRPr lang="en-US" sz="2000" dirty="0">
              <a:solidFill>
                <a:srgbClr val="005174"/>
              </a:solidFill>
              <a:highlight>
                <a:srgbClr val="FFFF00"/>
              </a:highlight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0063FCD-6518-8AE3-C30F-CBEFC5E1D810}"/>
              </a:ext>
            </a:extLst>
          </p:cNvPr>
          <p:cNvSpPr txBox="1">
            <a:spLocks/>
          </p:cNvSpPr>
          <p:nvPr/>
        </p:nvSpPr>
        <p:spPr>
          <a:xfrm>
            <a:off x="1676400" y="2443995"/>
            <a:ext cx="9144000" cy="81196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500" dirty="0">
                <a:solidFill>
                  <a:srgbClr val="005174"/>
                </a:solidFill>
              </a:rPr>
              <a:t>Using APIs, Web Scraping and DSA Applications</a:t>
            </a:r>
          </a:p>
        </p:txBody>
      </p:sp>
    </p:spTree>
    <p:extLst>
      <p:ext uri="{BB962C8B-B14F-4D97-AF65-F5344CB8AC3E}">
        <p14:creationId xmlns:p14="http://schemas.microsoft.com/office/powerpoint/2010/main" val="604927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1E33A6-E9E2-5A75-86DD-2970D7128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Agenda for today…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A11D33-6003-721D-CCD9-E1EAA6C583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Course overview and requirements</a:t>
            </a:r>
          </a:p>
          <a:p>
            <a:r>
              <a:rPr lang="en-US" dirty="0">
                <a:solidFill>
                  <a:schemeClr val="accent1"/>
                </a:solidFill>
              </a:rPr>
              <a:t>Introductions</a:t>
            </a:r>
          </a:p>
          <a:p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Overview of access regimes</a:t>
            </a:r>
          </a:p>
          <a:p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API Basics and First Request</a:t>
            </a:r>
          </a:p>
          <a:p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In-class exercise</a:t>
            </a:r>
          </a:p>
        </p:txBody>
      </p:sp>
    </p:spTree>
    <p:extLst>
      <p:ext uri="{BB962C8B-B14F-4D97-AF65-F5344CB8AC3E}">
        <p14:creationId xmlns:p14="http://schemas.microsoft.com/office/powerpoint/2010/main" val="22703445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8B18D-2295-1BCD-EFEB-05663360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DE2AF-BD61-1F43-B7FF-3DEE4FB03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9E53FB-AB37-ADE7-64F1-0F539F6F0E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2474" y="1839349"/>
            <a:ext cx="9951349" cy="239022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Goal</a:t>
            </a: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Learn how to </a:t>
            </a:r>
            <a:r>
              <a:rPr lang="en-US" sz="2500" b="1" dirty="0">
                <a:solidFill>
                  <a:schemeClr val="accent1"/>
                </a:solidFill>
              </a:rPr>
              <a:t>collect</a:t>
            </a:r>
            <a:r>
              <a:rPr lang="en-US" sz="2500" dirty="0">
                <a:solidFill>
                  <a:schemeClr val="accent1"/>
                </a:solidFill>
              </a:rPr>
              <a:t>, </a:t>
            </a:r>
            <a:r>
              <a:rPr lang="en-US" sz="2500" b="1" dirty="0">
                <a:solidFill>
                  <a:schemeClr val="accent1"/>
                </a:solidFill>
              </a:rPr>
              <a:t>document</a:t>
            </a:r>
            <a:r>
              <a:rPr lang="en-US" sz="2500" dirty="0">
                <a:solidFill>
                  <a:schemeClr val="accent1"/>
                </a:solidFill>
              </a:rPr>
              <a:t>, and </a:t>
            </a:r>
            <a:r>
              <a:rPr lang="en-US" sz="2500" b="1" dirty="0">
                <a:solidFill>
                  <a:schemeClr val="accent1"/>
                </a:solidFill>
              </a:rPr>
              <a:t>critically</a:t>
            </a:r>
            <a:r>
              <a:rPr lang="en-US" sz="2500" dirty="0">
                <a:solidFill>
                  <a:schemeClr val="accent1"/>
                </a:solidFill>
              </a:rPr>
              <a:t> </a:t>
            </a:r>
            <a:r>
              <a:rPr lang="en-US" sz="2500" b="1" dirty="0">
                <a:solidFill>
                  <a:schemeClr val="accent1"/>
                </a:solidFill>
              </a:rPr>
              <a:t>assess</a:t>
            </a:r>
            <a:r>
              <a:rPr lang="en-US" sz="2500" dirty="0">
                <a:solidFill>
                  <a:schemeClr val="accent1"/>
                </a:solidFill>
              </a:rPr>
              <a:t> data from online platforms.</a:t>
            </a:r>
          </a:p>
          <a:p>
            <a:pPr marL="0" indent="0">
              <a:buNone/>
            </a:pPr>
            <a:endParaRPr lang="en-US" sz="25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Outcome</a:t>
            </a: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By the end of the week, participants can </a:t>
            </a:r>
            <a:r>
              <a:rPr lang="en-US" sz="2500" b="1" dirty="0">
                <a:solidFill>
                  <a:schemeClr val="accent1"/>
                </a:solidFill>
              </a:rPr>
              <a:t>design</a:t>
            </a:r>
            <a:r>
              <a:rPr lang="en-US" sz="2500" dirty="0">
                <a:solidFill>
                  <a:schemeClr val="accent1"/>
                </a:solidFill>
              </a:rPr>
              <a:t> and </a:t>
            </a:r>
            <a:r>
              <a:rPr lang="en-US" sz="2500" b="1" dirty="0">
                <a:solidFill>
                  <a:schemeClr val="accent1"/>
                </a:solidFill>
              </a:rPr>
              <a:t>critique</a:t>
            </a:r>
            <a:r>
              <a:rPr lang="en-US" sz="2500" dirty="0">
                <a:solidFill>
                  <a:schemeClr val="accent1"/>
                </a:solidFill>
              </a:rPr>
              <a:t> a </a:t>
            </a:r>
            <a:r>
              <a:rPr lang="en-US" sz="2500" b="1" dirty="0">
                <a:solidFill>
                  <a:schemeClr val="accent1"/>
                </a:solidFill>
              </a:rPr>
              <a:t>reproducible platform data collection </a:t>
            </a:r>
            <a:r>
              <a:rPr lang="en-US" sz="2500" dirty="0">
                <a:solidFill>
                  <a:schemeClr val="accent1"/>
                </a:solidFill>
              </a:rPr>
              <a:t>workflow.</a:t>
            </a:r>
          </a:p>
          <a:p>
            <a:pPr marL="0" indent="0">
              <a:buNone/>
            </a:pPr>
            <a:endParaRPr lang="en-US" sz="25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sz="32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3801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1C8FC-BE6A-5DF0-08D0-64AA729A5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9A75B-B016-7EE2-8A6E-3478CCD62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30D27C-BD44-7341-6196-6C2896C33B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Methods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Static 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Platform/transparency tools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5197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5AF5F-2A6F-86A2-48AF-B94ED1DDD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09062-045B-D267-E274-4B9F36BC8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Collecting Platform Data: Course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DEFA0-A376-8524-3486-12DF024269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0087" y="2036114"/>
            <a:ext cx="4963789" cy="239022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</a:rPr>
              <a:t>Outcome</a:t>
            </a:r>
          </a:p>
          <a:p>
            <a:pPr marL="0" indent="0">
              <a:buNone/>
            </a:pPr>
            <a:r>
              <a:rPr lang="en-US" sz="2500" dirty="0">
                <a:solidFill>
                  <a:schemeClr val="accent1"/>
                </a:solidFill>
              </a:rPr>
              <a:t>By the end of the week, participants can design and critique a reproducible platform data collection workflow.</a:t>
            </a:r>
          </a:p>
        </p:txBody>
      </p:sp>
    </p:spTree>
    <p:extLst>
      <p:ext uri="{BB962C8B-B14F-4D97-AF65-F5344CB8AC3E}">
        <p14:creationId xmlns:p14="http://schemas.microsoft.com/office/powerpoint/2010/main" val="2380447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F27B21-C776-96C8-8612-260E88E80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7469-06C6-473A-7D66-FE1BE604A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Timelines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9C2DF95-CD9A-8B71-1FE2-672AE5A70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9654" y="449206"/>
            <a:ext cx="6975325" cy="595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382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D2959-37E3-C39D-CA4C-87FD2F862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9BC0F3-37ED-1CF1-82B5-CB0884E7A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EFDBF-AEAF-851C-6BFC-FA94835BC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18151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Attendance: 90%, i.e., a maximum of 2h can be missed</a:t>
            </a:r>
          </a:p>
          <a:p>
            <a:r>
              <a:rPr lang="en-US" dirty="0">
                <a:solidFill>
                  <a:schemeClr val="accent1"/>
                </a:solidFill>
              </a:rPr>
              <a:t>Daily assignments submitted before the next session</a:t>
            </a:r>
          </a:p>
          <a:p>
            <a:r>
              <a:rPr lang="en-US" dirty="0">
                <a:solidFill>
                  <a:schemeClr val="accent1"/>
                </a:solidFill>
              </a:rPr>
              <a:t>Final Submission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Project outline, incl. @@@@@ </a:t>
            </a: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lvl="1"/>
            <a:r>
              <a:rPr lang="en-US" dirty="0">
                <a:solidFill>
                  <a:schemeClr val="accent1"/>
                </a:solidFill>
              </a:rPr>
              <a:t>Submission until 12.07.2026</a:t>
            </a:r>
          </a:p>
          <a:p>
            <a:r>
              <a:rPr lang="en-US" dirty="0">
                <a:solidFill>
                  <a:schemeClr val="accent1"/>
                </a:solidFill>
              </a:rPr>
              <a:t>All Submission via </a:t>
            </a:r>
            <a:r>
              <a:rPr lang="en-US" b="1" dirty="0">
                <a:solidFill>
                  <a:schemeClr val="accent1"/>
                </a:solidFill>
              </a:rPr>
              <a:t>Moodle</a:t>
            </a:r>
          </a:p>
        </p:txBody>
      </p:sp>
    </p:spTree>
    <p:extLst>
      <p:ext uri="{BB962C8B-B14F-4D97-AF65-F5344CB8AC3E}">
        <p14:creationId xmlns:p14="http://schemas.microsoft.com/office/powerpoint/2010/main" val="1595625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3602D-E7A5-B87A-F35D-654CCF58C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C363F-037B-2C32-C6E8-FF862E93C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841418-1E82-7B56-67AC-49C701D521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Daily Assignments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2 ECTS</a:t>
            </a:r>
          </a:p>
          <a:p>
            <a:r>
              <a:rPr lang="en-US" dirty="0">
                <a:solidFill>
                  <a:schemeClr val="accent1"/>
                </a:solidFill>
              </a:rPr>
              <a:t>Small exercises to be submitted before the next session</a:t>
            </a:r>
          </a:p>
          <a:p>
            <a:r>
              <a:rPr lang="en-US" dirty="0">
                <a:solidFill>
                  <a:schemeClr val="accent1"/>
                </a:solidFill>
              </a:rPr>
              <a:t>Format: .</a:t>
            </a:r>
            <a:r>
              <a:rPr lang="en-US" dirty="0" err="1">
                <a:solidFill>
                  <a:schemeClr val="accent1"/>
                </a:solidFill>
              </a:rPr>
              <a:t>py</a:t>
            </a:r>
            <a:r>
              <a:rPr lang="en-US" dirty="0">
                <a:solidFill>
                  <a:schemeClr val="accent1"/>
                </a:solidFill>
              </a:rPr>
              <a:t> or .md files only</a:t>
            </a:r>
          </a:p>
          <a:p>
            <a:r>
              <a:rPr lang="en-US" dirty="0">
                <a:solidFill>
                  <a:schemeClr val="accent1"/>
                </a:solidFill>
              </a:rPr>
              <a:t>Submission via Moodle</a:t>
            </a:r>
          </a:p>
        </p:txBody>
      </p:sp>
    </p:spTree>
    <p:extLst>
      <p:ext uri="{BB962C8B-B14F-4D97-AF65-F5344CB8AC3E}">
        <p14:creationId xmlns:p14="http://schemas.microsoft.com/office/powerpoint/2010/main" val="3874882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2A06E-7141-7E99-BF21-15F61A0C4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C125C-3684-0117-2BA3-5B946BC62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0810D6-22CC-AFC4-0F9C-69C221152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u="sng" dirty="0">
                <a:solidFill>
                  <a:schemeClr val="accent1"/>
                </a:solidFill>
              </a:rPr>
              <a:t>Final Submission</a:t>
            </a:r>
          </a:p>
          <a:p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2 ECTS</a:t>
            </a:r>
          </a:p>
          <a:p>
            <a:r>
              <a:rPr lang="en-US" dirty="0">
                <a:solidFill>
                  <a:schemeClr val="accent1"/>
                </a:solidFill>
              </a:rPr>
              <a:t>Project outline, incl. @@@@@ </a:t>
            </a:r>
          </a:p>
          <a:p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Format: .pdf and .</a:t>
            </a:r>
            <a:r>
              <a:rPr lang="en-US" dirty="0" err="1">
                <a:solidFill>
                  <a:schemeClr val="accent1"/>
                </a:solidFill>
                <a:highlight>
                  <a:srgbClr val="FFFF00"/>
                </a:highlight>
              </a:rPr>
              <a:t>py</a:t>
            </a:r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 or .md</a:t>
            </a:r>
          </a:p>
          <a:p>
            <a:r>
              <a:rPr lang="en-US" dirty="0">
                <a:solidFill>
                  <a:schemeClr val="accent1"/>
                </a:solidFill>
              </a:rPr>
              <a:t>Submission via Moodle until </a:t>
            </a:r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12.07.2026</a:t>
            </a:r>
          </a:p>
        </p:txBody>
      </p:sp>
    </p:spTree>
    <p:extLst>
      <p:ext uri="{BB962C8B-B14F-4D97-AF65-F5344CB8AC3E}">
        <p14:creationId xmlns:p14="http://schemas.microsoft.com/office/powerpoint/2010/main" val="2523085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3DE8A-7D78-FEB2-281F-187600E25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DB583-9D0D-A367-045F-41EA30E582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Briefly explain final paper because they should keep it in mind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0137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5F68-8867-ADFC-2CC0-57ADE4B72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78116-D5DC-7B06-6139-283B27869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ECTS and 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5CD14-2E36-0D54-6D2B-BE8E2F1AD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50% Attendance and Daily Assignments (2 ECTS)</a:t>
            </a:r>
          </a:p>
          <a:p>
            <a:r>
              <a:rPr lang="en-US" dirty="0">
                <a:solidFill>
                  <a:schemeClr val="accent1"/>
                </a:solidFill>
              </a:rPr>
              <a:t>Min. 90% attendance</a:t>
            </a:r>
          </a:p>
          <a:p>
            <a:r>
              <a:rPr lang="en-US" dirty="0">
                <a:solidFill>
                  <a:schemeClr val="accent1"/>
                </a:solidFill>
              </a:rPr>
              <a:t>Submission of all daily exercises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50% Final Paper (2 ECTS)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92724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80DE3-FBA4-A051-3F96-384FE17E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E7A-4FDE-E925-FA96-F6B3095A6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Grading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AC9BD2-B650-45AB-8BC1-39D47D680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391537"/>
            <a:ext cx="7772400" cy="407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6220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29BF8-5FC7-E80A-487C-9E609790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Course Material on 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7F018-E9BE-9E9B-46BC-7F7C41F6E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endParaRPr lang="en-US" dirty="0">
              <a:solidFill>
                <a:schemeClr val="accent1"/>
              </a:solidFill>
              <a:highlight>
                <a:srgbClr val="FFFF00"/>
              </a:highlight>
            </a:endParaRPr>
          </a:p>
          <a:p>
            <a:pPr marL="0" indent="0" algn="ctr">
              <a:buNone/>
            </a:pPr>
            <a:r>
              <a:rPr lang="en-US" dirty="0" err="1">
                <a:solidFill>
                  <a:schemeClr val="accent1"/>
                </a:solidFill>
                <a:highlight>
                  <a:srgbClr val="FFFF00"/>
                </a:highlight>
              </a:rPr>
              <a:t>noellelebe</a:t>
            </a:r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/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1171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9E027C-D741-38FE-B058-373623C0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19C8D-9F7D-9068-56BE-98E6A255B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F4880C-3F56-3DEB-3D65-54AE30D450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1663666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76F2B-9CDA-2EC4-7693-7D19235F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D8C81-10D1-CD25-CAF7-76CB8DDC5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  <a:highlight>
                  <a:srgbClr val="FFFF00"/>
                </a:highlight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77268-5320-B086-EF87-AEB108951D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Name and affiliation</a:t>
            </a:r>
          </a:p>
          <a:p>
            <a:r>
              <a:rPr lang="en-US" dirty="0">
                <a:solidFill>
                  <a:schemeClr val="accent1"/>
                </a:solidFill>
              </a:rPr>
              <a:t>Research area / current project</a:t>
            </a:r>
          </a:p>
          <a:p>
            <a:r>
              <a:rPr lang="en-US" dirty="0">
                <a:solidFill>
                  <a:schemeClr val="accent1"/>
                </a:solidFill>
              </a:rPr>
              <a:t>Your experience with Python / APIs / scraping</a:t>
            </a:r>
          </a:p>
          <a:p>
            <a:r>
              <a:rPr lang="en-US" dirty="0">
                <a:solidFill>
                  <a:schemeClr val="accent1"/>
                </a:solidFill>
              </a:rPr>
              <a:t>One thing you hope to get out of the course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One platform, website, or data source you are interested in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What kind of data you would like to collect or access</a:t>
            </a:r>
          </a:p>
        </p:txBody>
      </p:sp>
    </p:spTree>
    <p:extLst>
      <p:ext uri="{BB962C8B-B14F-4D97-AF65-F5344CB8AC3E}">
        <p14:creationId xmlns:p14="http://schemas.microsoft.com/office/powerpoint/2010/main" val="4590620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CA275-9CF3-D3B9-89F3-812A10B5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BE2C1-B7D7-4A11-F8F3-0D37870C8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What is an Access Regime?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ECD0FA-4379-755C-5C9B-000EB638D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Access regime refers to </a:t>
            </a:r>
            <a:r>
              <a:rPr lang="en-US" i="1" dirty="0">
                <a:solidFill>
                  <a:schemeClr val="accent1"/>
                </a:solidFill>
              </a:rPr>
              <a:t>how data access is organized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Varies by: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technical route: such as API, scraping, dashboard, download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rules: </a:t>
            </a:r>
            <a:r>
              <a:rPr lang="en-US" sz="2400" dirty="0">
                <a:solidFill>
                  <a:schemeClr val="accent1"/>
                </a:solidFill>
                <a:highlight>
                  <a:srgbClr val="FFFF00"/>
                </a:highlight>
              </a:rPr>
              <a:t>such as terms of service, eligibility, law, terms, regulation, data protection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limits: such as fields, rate limits, time periods, and records are available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2972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75A86-1FA0-8EFD-F5D3-BDBB25661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8A963-51C2-A8BA-C0DA-B57A43507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Why Access Regimes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D2845C-5D3A-0A7D-7D6F-0A59483889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What we can study depends 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platforms make visible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interfaces allow us to collect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laws and terms permit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technical systems return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what gets filtered, ranked, hidden, or removed</a:t>
            </a:r>
          </a:p>
          <a:p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61707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69A8B-5A8D-A2C6-B936-6A7AA9AB7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008FC-C420-E64D-8C15-424139E20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Main Access Routes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9619E3-32BC-2830-4D6A-0F9613E6F4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Open or public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research APIs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Web scraping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Browser automation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Transparency databases</a:t>
            </a:r>
          </a:p>
          <a:p>
            <a:r>
              <a:rPr lang="en-US" sz="2400" dirty="0">
                <a:solidFill>
                  <a:schemeClr val="accent1"/>
                </a:solidFill>
                <a:highlight>
                  <a:srgbClr val="FFFF00"/>
                </a:highlight>
              </a:rPr>
              <a:t>Ad libraries / ad repositories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DSA-based researcher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AI-assisted collection workflows</a:t>
            </a:r>
          </a:p>
        </p:txBody>
      </p:sp>
    </p:spTree>
    <p:extLst>
      <p:ext uri="{BB962C8B-B14F-4D97-AF65-F5344CB8AC3E}">
        <p14:creationId xmlns:p14="http://schemas.microsoft.com/office/powerpoint/2010/main" val="16607060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3B8EA-A1A4-9EAF-5BB5-2BA43E2B5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C75D-8BC7-58B9-3B27-4E4D190D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88228-C06B-FA5D-559E-26DC3866A3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APIs allow software to request structured data from a system.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Wikipedia / </a:t>
            </a:r>
            <a:r>
              <a:rPr lang="en-US" sz="2400" dirty="0" err="1">
                <a:solidFill>
                  <a:schemeClr val="accent1"/>
                </a:solidFill>
              </a:rPr>
              <a:t>MediaWiki</a:t>
            </a:r>
            <a:r>
              <a:rPr lang="en-US" sz="2400" dirty="0">
                <a:solidFill>
                  <a:schemeClr val="accent1"/>
                </a:solidFill>
              </a:rPr>
              <a:t>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Reddit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OpenAI API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3258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CD3F5-C242-B6B1-1133-A2068066D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36915-8E87-9E14-0E36-8D827C5A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1944F-E47B-46B2-E39A-689F11BF37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structured responses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explicit parameters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reproducible requests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easier to document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0751162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CB30-7146-8156-FED5-5E71F8ADB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6F6F9-5999-E75B-7830-BBFCB3343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Application Programming Interface (APIs)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26D2F-E58C-F763-BDA7-98FC0AD74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decides fields and limits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rate limits and authentication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missing deleted/hidden/ranked content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API data may not match user experience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59378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727D5-E676-1EAA-6C59-A27B4E3A5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7202B-33AB-A05D-3BAA-FF6A292EE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79331-EC8D-5108-C22F-E547A2A520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With web scraping, we can collect data from web pages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there is no suitable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the public interface itself matters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data are visible in HTML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916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4D4D6-D623-A111-B765-562E02C7A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17258-0D22-7B99-B701-8A4FA4E1C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C5ED71-1747-EEB7-6B64-6B9B4C614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observes browser-facing content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flexible across websites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can capture layout/context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23106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5D1C1-593A-B718-B6A9-F35DD0BF7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9C7E4-C10C-5C4E-961A-302AFD495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Web Scraping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DE0CF-E4CB-BFBB-3A9F-CE68F05921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fragile selectors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dynamic pages may hide content from requests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pages can change without warning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legal/ethical constraints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…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636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5B5C0-3379-971F-7644-2EE7A30ED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15D23-0728-8D1E-A76F-C6B07BCD1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8860-DAB0-7026-17DF-85C141207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Browser automation controls a real browser with code.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Selenium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Playwright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85976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FBA2C-D8C3-2B27-1CF4-469B09BB5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CE75E5-1980-604B-EAA3-D2EA945A0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B6FCE-E11E-C897-9A17-FA311EFC2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Useful when:</a:t>
            </a:r>
          </a:p>
          <a:p>
            <a:r>
              <a:rPr lang="en-US" dirty="0">
                <a:solidFill>
                  <a:schemeClr val="accent1"/>
                </a:solidFill>
              </a:rPr>
              <a:t>content loads through JavaScript</a:t>
            </a:r>
          </a:p>
          <a:p>
            <a:r>
              <a:rPr lang="en-US" dirty="0">
                <a:solidFill>
                  <a:schemeClr val="accent1"/>
                </a:solidFill>
              </a:rPr>
              <a:t>scrolling/clicking is needed</a:t>
            </a:r>
          </a:p>
          <a:p>
            <a:r>
              <a:rPr lang="en-US" dirty="0">
                <a:solidFill>
                  <a:schemeClr val="accent1"/>
                </a:solidFill>
              </a:rPr>
              <a:t>screenshots or rendered DOM are important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4931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242E4-6AD7-32A3-9D86-3789DD939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9F1D7-3DD3-4EA0-893E-C144E262A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Browser Automation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F4322-1DDF-75E2-5D95-7257014CE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dirty="0">
                <a:solidFill>
                  <a:schemeClr val="accent1"/>
                </a:solidFill>
              </a:rPr>
              <a:t>slower and more brittle</a:t>
            </a:r>
          </a:p>
          <a:p>
            <a:r>
              <a:rPr lang="en-US" dirty="0">
                <a:solidFill>
                  <a:schemeClr val="accent1"/>
                </a:solidFill>
              </a:rPr>
              <a:t>more server load</a:t>
            </a:r>
          </a:p>
          <a:p>
            <a:r>
              <a:rPr lang="en-US" dirty="0">
                <a:solidFill>
                  <a:schemeClr val="accent1"/>
                </a:solidFill>
              </a:rPr>
              <a:t>waiting/scrolling choices affect results</a:t>
            </a:r>
          </a:p>
          <a:p>
            <a:r>
              <a:rPr lang="en-US" dirty="0">
                <a:solidFill>
                  <a:schemeClr val="accent1"/>
                </a:solidFill>
              </a:rPr>
              <a:t>should not be used to bypass controls</a:t>
            </a:r>
          </a:p>
        </p:txBody>
      </p:sp>
    </p:spTree>
    <p:extLst>
      <p:ext uri="{BB962C8B-B14F-4D97-AF65-F5344CB8AC3E}">
        <p14:creationId xmlns:p14="http://schemas.microsoft.com/office/powerpoint/2010/main" val="41411737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1003-1423-E720-7073-B9D958F454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B0238-5E7C-682D-C652-A6A3EFC61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Platform Research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9C35C-DD6C-0D3F-B153-6102EEB3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Platform-provided or platform-mediated systems for research/transparency access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Research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YouTube Data API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 transparency dashboards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downloadable platform reports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12558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09BAB-22A5-24C5-CB63-2D9170A381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190CF-031C-015F-2101-116B8FA2C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44937-D5FD-EB80-86B9-197F65E0F2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Transparency tools provide structured public or regulatory data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Examples: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DSA Transparency Database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Meta Ad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Google Ads Transparency Center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TikTok Commercial Content Library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LinkedIn Ad Library</a:t>
            </a:r>
          </a:p>
        </p:txBody>
      </p:sp>
    </p:spTree>
    <p:extLst>
      <p:ext uri="{BB962C8B-B14F-4D97-AF65-F5344CB8AC3E}">
        <p14:creationId xmlns:p14="http://schemas.microsoft.com/office/powerpoint/2010/main" val="166084456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0A531-115B-17C5-8E27-FE1D4FD05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E7DCE-AADB-92F1-9176-FA4C8D2FD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AEBB1-AF22-5DD6-3777-EB2A570012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Strengths: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designed for transparency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often searchable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useful for moderation or advertising research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6378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6C1C4-8C0B-8184-2316-8672833A8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DE9CD-DB61-2090-FA1D-BC53310C8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Transparency Databases and Ad Libraries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BF20CA-27B3-16A8-D160-7B1CE499E5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Limitations: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partial reporting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platform-defined categories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missing context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varying quality and completeness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941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68230-3017-B77B-BC31-A36446234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6A27-DA29-C9E0-C710-411DCC92E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39881-1B64-E621-B85D-E82B09C39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The Digital Services Act (DSA) creates access mechanisms for studying systemic risks.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Relevant distinction: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public-data access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vetted researcher access to non-public data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83138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04B8-099B-9474-7A3E-A447DD9F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05D30B-F0A2-E287-C8D1-1D2D62C8C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51527-78D5-3FBD-6D9B-17FC19EBF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Important because: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access is formalized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requests must be justified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proportionality and data protection matter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timelines and governance shape research design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34491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6E430-0432-FDE4-87F3-7B62A771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AD9EF-656B-7E58-071C-549FE5E41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DSA-Based Researcher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CA5D3-F3FA-A7F4-2821-3E3B8BFC2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Important because: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access is formalized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requests must be justified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proportionality and data protection matter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timelines and governance shape research design</a:t>
            </a:r>
          </a:p>
          <a:p>
            <a:endParaRPr lang="en-US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</a:rPr>
              <a:t>More by Hajo Boomgaarden on Thursday!</a:t>
            </a:r>
          </a:p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1971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A2C00-26C6-A0BE-D106-08ACEEEDF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C05622-4A5A-9DEC-DF84-11A2BB6B8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Comparing Access Routes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13136-F599-BB98-62C4-DD54A6F13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5EC0DF-D3E6-ADD2-0B05-9183B3277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3990" y="1965795"/>
            <a:ext cx="8224020" cy="29264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1095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41F26-2E64-F026-1655-6DECB3086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224C8-F9CC-9F9E-4341-DEAB0BEFC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Methodological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4DCE8D-EE6D-0412-1066-A621AC9B8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For every dataset, ask:</a:t>
            </a:r>
          </a:p>
          <a:p>
            <a:pPr lvl="1"/>
            <a:endParaRPr lang="en-US" sz="2000" dirty="0">
              <a:solidFill>
                <a:schemeClr val="accent1"/>
              </a:solidFill>
            </a:endParaRP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What is the unit of observation?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What population can this access route reveal?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What records are excluded?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What parameters shaped collection?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What fields are missing?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Who controls visibility?</a:t>
            </a:r>
          </a:p>
          <a:p>
            <a:pPr lvl="1"/>
            <a:r>
              <a:rPr lang="en-US" sz="2000" dirty="0">
                <a:solidFill>
                  <a:schemeClr val="accent1"/>
                </a:solidFill>
              </a:rPr>
              <a:t>Can another researcher reproduce the workflow?</a:t>
            </a:r>
          </a:p>
        </p:txBody>
      </p:sp>
    </p:spTree>
    <p:extLst>
      <p:ext uri="{BB962C8B-B14F-4D97-AF65-F5344CB8AC3E}">
        <p14:creationId xmlns:p14="http://schemas.microsoft.com/office/powerpoint/2010/main" val="369022904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3D5C8-EFF4-F8CA-249E-BA95B1E45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42861-4BC7-567E-A88D-B0D641256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7CA174-2C00-58F6-C1F2-4DF3416B5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20525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endParaRPr lang="en-US" sz="4000" dirty="0">
              <a:solidFill>
                <a:schemeClr val="accent1"/>
              </a:solidFill>
            </a:endParaRPr>
          </a:p>
          <a:p>
            <a:pPr marL="0" indent="0" algn="ctr">
              <a:buNone/>
            </a:pPr>
            <a:r>
              <a:rPr lang="en-US" sz="4000" dirty="0">
                <a:solidFill>
                  <a:schemeClr val="accent1"/>
                </a:solidFill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21581238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2744</TotalTime>
  <Words>1029</Words>
  <Application>Microsoft Macintosh PowerPoint</Application>
  <PresentationFormat>Widescreen</PresentationFormat>
  <Paragraphs>260</Paragraphs>
  <Slides>37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1" baseType="lpstr">
      <vt:lpstr>Aptos</vt:lpstr>
      <vt:lpstr>Aptos Display</vt:lpstr>
      <vt:lpstr>Arial</vt:lpstr>
      <vt:lpstr>Office Theme</vt:lpstr>
      <vt:lpstr>Collecting Data from Large Online Platforms</vt:lpstr>
      <vt:lpstr>Agenda for today…</vt:lpstr>
      <vt:lpstr>Collecting Platform Data: Course Overview</vt:lpstr>
      <vt:lpstr>Collecting Platform Data: Course Overview</vt:lpstr>
      <vt:lpstr>Collecting Platform Data: Course Overview</vt:lpstr>
      <vt:lpstr>Timelines</vt:lpstr>
      <vt:lpstr>Requirements</vt:lpstr>
      <vt:lpstr>Grading</vt:lpstr>
      <vt:lpstr>Grading</vt:lpstr>
      <vt:lpstr>PowerPoint Presentation</vt:lpstr>
      <vt:lpstr>ECTS and Grading</vt:lpstr>
      <vt:lpstr>Grading</vt:lpstr>
      <vt:lpstr>Course Material on GitHub</vt:lpstr>
      <vt:lpstr>PowerPoint Presentation</vt:lpstr>
      <vt:lpstr>Introduction</vt:lpstr>
      <vt:lpstr>What is an Access Regime? </vt:lpstr>
      <vt:lpstr>Why Access Regimes Matter</vt:lpstr>
      <vt:lpstr>Main Access Routes in this Course</vt:lpstr>
      <vt:lpstr>Application Programming Interface (APIs)</vt:lpstr>
      <vt:lpstr>Application Programming Interface (APIs)</vt:lpstr>
      <vt:lpstr>Application Programming Interface (APIs)</vt:lpstr>
      <vt:lpstr>Web Scraping</vt:lpstr>
      <vt:lpstr>Web Scraping</vt:lpstr>
      <vt:lpstr>Web Scraping</vt:lpstr>
      <vt:lpstr>Browser Automation</vt:lpstr>
      <vt:lpstr>Browser Automation</vt:lpstr>
      <vt:lpstr>Browser Automation</vt:lpstr>
      <vt:lpstr>Platform Research Tools</vt:lpstr>
      <vt:lpstr>Transparency Databases and Ad Libraries</vt:lpstr>
      <vt:lpstr>Transparency Databases and Ad Libraries</vt:lpstr>
      <vt:lpstr>Transparency Databases and Ad Libraries</vt:lpstr>
      <vt:lpstr>DSA-Based Researcher Access</vt:lpstr>
      <vt:lpstr>DSA-Based Researcher Access</vt:lpstr>
      <vt:lpstr>DSA-Based Researcher Access</vt:lpstr>
      <vt:lpstr>Comparing Access Routes</vt:lpstr>
      <vt:lpstr>Methodological Questions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Noelle Lebernegg</dc:creator>
  <cp:lastModifiedBy>Noelle Lebernegg</cp:lastModifiedBy>
  <cp:revision>13</cp:revision>
  <dcterms:created xsi:type="dcterms:W3CDTF">2026-03-26T08:23:57Z</dcterms:created>
  <dcterms:modified xsi:type="dcterms:W3CDTF">2026-06-26T15:31:01Z</dcterms:modified>
</cp:coreProperties>
</file>